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Plus Jakarta Sans ExtraBold"/>
      <p:bold r:id="rId19"/>
      <p:boldItalic r:id="rId20"/>
    </p:embeddedFont>
    <p:embeddedFont>
      <p:font typeface="Inter SemiBold"/>
      <p:regular r:id="rId21"/>
      <p:bold r:id="rId22"/>
      <p:italic r:id="rId23"/>
      <p:boldItalic r:id="rId24"/>
    </p:embeddedFont>
    <p:embeddedFont>
      <p:font typeface="Inter"/>
      <p:regular r:id="rId25"/>
      <p:bold r:id="rId26"/>
      <p:italic r:id="rId27"/>
      <p:boldItalic r:id="rId28"/>
    </p:embeddedFont>
    <p:embeddedFont>
      <p:font typeface="Plus Jakarta Sans"/>
      <p:regular r:id="rId29"/>
      <p:bold r:id="rId30"/>
      <p:italic r:id="rId31"/>
      <p:boldItalic r:id="rId32"/>
    </p:embeddedFont>
    <p:embeddedFont>
      <p:font typeface="Plus Jakarta Sans SemiBold"/>
      <p:regular r:id="rId33"/>
      <p:bold r:id="rId34"/>
      <p:italic r:id="rId35"/>
      <p:boldItalic r:id="rId36"/>
    </p:embeddedFont>
    <p:embeddedFont>
      <p:font typeface="Inter Medium"/>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C140BD-61DD-4EA2-8090-AD644BD09FEC}">
  <a:tblStyle styleId="{79C140BD-61DD-4EA2-8090-AD644BD09FE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Medium-boldItalic.fntdata"/><Relationship Id="rId20" Type="http://schemas.openxmlformats.org/officeDocument/2006/relationships/font" Target="fonts/PlusJakartaSansExtraBold-boldItalic.fntdata"/><Relationship Id="rId22" Type="http://schemas.openxmlformats.org/officeDocument/2006/relationships/font" Target="fonts/InterSemiBold-bold.fntdata"/><Relationship Id="rId21" Type="http://schemas.openxmlformats.org/officeDocument/2006/relationships/font" Target="fonts/InterSemiBold-regular.fntdata"/><Relationship Id="rId24" Type="http://schemas.openxmlformats.org/officeDocument/2006/relationships/font" Target="fonts/InterSemiBold-boldItalic.fntdata"/><Relationship Id="rId23" Type="http://schemas.openxmlformats.org/officeDocument/2006/relationships/font" Target="fonts/Inter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italic.fntdata"/><Relationship Id="rId30" Type="http://schemas.openxmlformats.org/officeDocument/2006/relationships/font" Target="fonts/PlusJakartaSans-bold.fntdata"/><Relationship Id="rId11" Type="http://schemas.openxmlformats.org/officeDocument/2006/relationships/slide" Target="slides/slide5.xml"/><Relationship Id="rId33" Type="http://schemas.openxmlformats.org/officeDocument/2006/relationships/font" Target="fonts/PlusJakartaSansSemiBold-regular.fntdata"/><Relationship Id="rId10" Type="http://schemas.openxmlformats.org/officeDocument/2006/relationships/slide" Target="slides/slide4.xml"/><Relationship Id="rId32" Type="http://schemas.openxmlformats.org/officeDocument/2006/relationships/font" Target="fonts/PlusJakartaSans-boldItalic.fntdata"/><Relationship Id="rId13" Type="http://schemas.openxmlformats.org/officeDocument/2006/relationships/slide" Target="slides/slide7.xml"/><Relationship Id="rId35" Type="http://schemas.openxmlformats.org/officeDocument/2006/relationships/font" Target="fonts/PlusJakartaSansSemiBold-italic.fntdata"/><Relationship Id="rId12" Type="http://schemas.openxmlformats.org/officeDocument/2006/relationships/slide" Target="slides/slide6.xml"/><Relationship Id="rId34" Type="http://schemas.openxmlformats.org/officeDocument/2006/relationships/font" Target="fonts/PlusJakartaSansSemiBold-bold.fntdata"/><Relationship Id="rId15" Type="http://schemas.openxmlformats.org/officeDocument/2006/relationships/slide" Target="slides/slide9.xml"/><Relationship Id="rId37" Type="http://schemas.openxmlformats.org/officeDocument/2006/relationships/font" Target="fonts/InterMedium-regular.fntdata"/><Relationship Id="rId14" Type="http://schemas.openxmlformats.org/officeDocument/2006/relationships/slide" Target="slides/slide8.xml"/><Relationship Id="rId36" Type="http://schemas.openxmlformats.org/officeDocument/2006/relationships/font" Target="fonts/PlusJakartaSansSemiBold-boldItalic.fntdata"/><Relationship Id="rId17" Type="http://schemas.openxmlformats.org/officeDocument/2006/relationships/slide" Target="slides/slide11.xml"/><Relationship Id="rId39" Type="http://schemas.openxmlformats.org/officeDocument/2006/relationships/font" Target="fonts/InterMedium-italic.fntdata"/><Relationship Id="rId16" Type="http://schemas.openxmlformats.org/officeDocument/2006/relationships/slide" Target="slides/slide10.xml"/><Relationship Id="rId38" Type="http://schemas.openxmlformats.org/officeDocument/2006/relationships/font" Target="fonts/InterMedium-bold.fntdata"/><Relationship Id="rId19" Type="http://schemas.openxmlformats.org/officeDocument/2006/relationships/font" Target="fonts/PlusJakartaSansExtraBold-bold.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3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11" Type="http://schemas.openxmlformats.org/officeDocument/2006/relationships/image" Target="../media/image39.png"/><Relationship Id="rId10" Type="http://schemas.openxmlformats.org/officeDocument/2006/relationships/image" Target="../media/image5.png"/><Relationship Id="rId9"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20" Type="http://schemas.openxmlformats.org/officeDocument/2006/relationships/image" Target="../media/image20.png"/><Relationship Id="rId11" Type="http://schemas.openxmlformats.org/officeDocument/2006/relationships/image" Target="../media/image12.png"/><Relationship Id="rId10" Type="http://schemas.openxmlformats.org/officeDocument/2006/relationships/image" Target="../media/image14.png"/><Relationship Id="rId13" Type="http://schemas.openxmlformats.org/officeDocument/2006/relationships/image" Target="../media/image4.png"/><Relationship Id="rId12"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13.png"/><Relationship Id="rId15" Type="http://schemas.openxmlformats.org/officeDocument/2006/relationships/image" Target="../media/image15.png"/><Relationship Id="rId14" Type="http://schemas.openxmlformats.org/officeDocument/2006/relationships/image" Target="../media/image16.png"/><Relationship Id="rId17" Type="http://schemas.openxmlformats.org/officeDocument/2006/relationships/image" Target="../media/image25.png"/><Relationship Id="rId16" Type="http://schemas.openxmlformats.org/officeDocument/2006/relationships/image" Target="../media/image21.png"/><Relationship Id="rId5" Type="http://schemas.openxmlformats.org/officeDocument/2006/relationships/image" Target="../media/image19.png"/><Relationship Id="rId19" Type="http://schemas.openxmlformats.org/officeDocument/2006/relationships/image" Target="../media/image37.png"/><Relationship Id="rId6" Type="http://schemas.openxmlformats.org/officeDocument/2006/relationships/image" Target="../media/image40.png"/><Relationship Id="rId18" Type="http://schemas.openxmlformats.org/officeDocument/2006/relationships/image" Target="../media/image27.png"/><Relationship Id="rId7" Type="http://schemas.openxmlformats.org/officeDocument/2006/relationships/image" Target="../media/image18.pn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31.png"/><Relationship Id="rId12"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6.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53.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62.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2.png"/><Relationship Id="rId9"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4.png"/><Relationship Id="rId7" Type="http://schemas.openxmlformats.org/officeDocument/2006/relationships/image" Target="../media/image58.png"/><Relationship Id="rId8"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4.png"/><Relationship Id="rId7" Type="http://schemas.openxmlformats.org/officeDocument/2006/relationships/image" Target="../media/image7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6.png"/><Relationship Id="rId9" Type="http://schemas.openxmlformats.org/officeDocument/2006/relationships/image" Target="../media/image70.png"/><Relationship Id="rId5" Type="http://schemas.openxmlformats.org/officeDocument/2006/relationships/image" Target="../media/image44.png"/><Relationship Id="rId6" Type="http://schemas.openxmlformats.org/officeDocument/2006/relationships/image" Target="../media/image4.png"/><Relationship Id="rId7" Type="http://schemas.openxmlformats.org/officeDocument/2006/relationships/image" Target="../media/image46.png"/><Relationship Id="rId8" Type="http://schemas.openxmlformats.org/officeDocument/2006/relationships/image" Target="../media/image38.png"/></Relationships>
</file>

<file path=ppt/slides/_rels/slide9.xml.rels><?xml version="1.0" encoding="UTF-8" standalone="yes"?><Relationships xmlns="http://schemas.openxmlformats.org/package/2006/relationships"><Relationship Id="rId11" Type="http://schemas.openxmlformats.org/officeDocument/2006/relationships/image" Target="../media/image68.png"/><Relationship Id="rId10"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7.png"/><Relationship Id="rId9" Type="http://schemas.openxmlformats.org/officeDocument/2006/relationships/image" Target="../media/image45.png"/><Relationship Id="rId5" Type="http://schemas.openxmlformats.org/officeDocument/2006/relationships/image" Target="../media/image52.png"/><Relationship Id="rId6" Type="http://schemas.openxmlformats.org/officeDocument/2006/relationships/image" Target="../media/image47.png"/><Relationship Id="rId7" Type="http://schemas.openxmlformats.org/officeDocument/2006/relationships/image" Target="../media/image4.png"/><Relationship Id="rId8" Type="http://schemas.openxmlformats.org/officeDocument/2006/relationships/image" Target="../media/image49.png"/></Relationships>
</file>

<file path=ppt/slides/_rels/slide10.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8.png"/><Relationship Id="rId9" Type="http://schemas.openxmlformats.org/officeDocument/2006/relationships/image" Target="../media/image56.png"/><Relationship Id="rId5" Type="http://schemas.openxmlformats.org/officeDocument/2006/relationships/image" Target="../media/image65.png"/><Relationship Id="rId6" Type="http://schemas.openxmlformats.org/officeDocument/2006/relationships/image" Target="../media/image51.png"/><Relationship Id="rId7" Type="http://schemas.openxmlformats.org/officeDocument/2006/relationships/image" Target="../media/image4.png"/><Relationship Id="rId8" Type="http://schemas.openxmlformats.org/officeDocument/2006/relationships/image" Target="../media/image63.png"/></Relationships>
</file>

<file path=ppt/slides/_rels/slide11.xml.rels><?xml version="1.0" encoding="UTF-8" standalone="yes"?><Relationships xmlns="http://schemas.openxmlformats.org/package/2006/relationships"><Relationship Id="rId11" Type="http://schemas.openxmlformats.org/officeDocument/2006/relationships/image" Target="../media/image69.png"/><Relationship Id="rId10" Type="http://schemas.openxmlformats.org/officeDocument/2006/relationships/image" Target="../media/image75.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9.png"/><Relationship Id="rId9" Type="http://schemas.openxmlformats.org/officeDocument/2006/relationships/image" Target="../media/image60.png"/><Relationship Id="rId5" Type="http://schemas.openxmlformats.org/officeDocument/2006/relationships/image" Target="../media/image66.png"/><Relationship Id="rId6" Type="http://schemas.openxmlformats.org/officeDocument/2006/relationships/image" Target="../media/image71.png"/><Relationship Id="rId7" Type="http://schemas.openxmlformats.org/officeDocument/2006/relationships/image" Target="../media/image4.png"/><Relationship Id="rId8" Type="http://schemas.openxmlformats.org/officeDocument/2006/relationships/image" Target="../media/image6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6.png"/><Relationship Id="rId4" Type="http://schemas.openxmlformats.org/officeDocument/2006/relationships/image" Target="../media/image74.png"/><Relationship Id="rId5"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464843" y="1914525"/>
            <a:ext cx="3262312" cy="25717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3238500" y="3789015"/>
            <a:ext cx="5715000" cy="792360"/>
          </a:xfrm>
          <a:prstGeom prst="rect">
            <a:avLst/>
          </a:prstGeom>
          <a:noFill/>
          <a:ln>
            <a:noFill/>
          </a:ln>
        </p:spPr>
      </p:pic>
      <p:pic>
        <p:nvPicPr>
          <p:cNvPr descr="image.png" id="87" name="Google Shape;87;p13"/>
          <p:cNvPicPr preferRelativeResize="0"/>
          <p:nvPr/>
        </p:nvPicPr>
        <p:blipFill rotWithShape="1">
          <a:blip r:embed="rId6">
            <a:alphaModFix/>
          </a:blip>
          <a:srcRect b="0" l="0" r="0" t="0"/>
          <a:stretch/>
        </p:blipFill>
        <p:spPr>
          <a:xfrm>
            <a:off x="10725150" y="6172200"/>
            <a:ext cx="800100" cy="209550"/>
          </a:xfrm>
          <a:prstGeom prst="rect">
            <a:avLst/>
          </a:prstGeom>
          <a:noFill/>
          <a:ln>
            <a:noFill/>
          </a:ln>
        </p:spPr>
      </p:pic>
      <p:pic>
        <p:nvPicPr>
          <p:cNvPr descr="image.png" id="88" name="Google Shape;88;p13"/>
          <p:cNvPicPr preferRelativeResize="0"/>
          <p:nvPr/>
        </p:nvPicPr>
        <p:blipFill rotWithShape="1">
          <a:blip r:embed="rId7">
            <a:alphaModFix/>
          </a:blip>
          <a:srcRect b="0" l="0" r="0" t="0"/>
          <a:stretch/>
        </p:blipFill>
        <p:spPr>
          <a:xfrm>
            <a:off x="666750" y="6019800"/>
            <a:ext cx="10858500" cy="361950"/>
          </a:xfrm>
          <a:prstGeom prst="rect">
            <a:avLst/>
          </a:prstGeom>
          <a:noFill/>
          <a:ln>
            <a:noFill/>
          </a:ln>
        </p:spPr>
      </p:pic>
      <p:sp>
        <p:nvSpPr>
          <p:cNvPr id="89" name="Google Shape;89;p13"/>
          <p:cNvSpPr txBox="1"/>
          <p:nvPr/>
        </p:nvSpPr>
        <p:spPr>
          <a:xfrm>
            <a:off x="1372950" y="2362200"/>
            <a:ext cx="9575100" cy="600300"/>
          </a:xfrm>
          <a:prstGeom prst="rect">
            <a:avLst/>
          </a:prstGeom>
          <a:noFill/>
          <a:ln>
            <a:noFill/>
          </a:ln>
        </p:spPr>
        <p:txBody>
          <a:bodyPr anchorCtr="0" anchor="t" bIns="0" lIns="0" spcFirstLastPara="1" rIns="0" wrap="square" tIns="0">
            <a:spAutoFit/>
          </a:bodyPr>
          <a:lstStyle/>
          <a:p>
            <a:pPr indent="0" lvl="0" marL="0" marR="0" rtl="0" algn="ctr">
              <a:lnSpc>
                <a:spcPct val="114974"/>
              </a:lnSpc>
              <a:spcBef>
                <a:spcPts val="0"/>
              </a:spcBef>
              <a:spcAft>
                <a:spcPts val="0"/>
              </a:spcAft>
              <a:buNone/>
            </a:pPr>
            <a:r>
              <a:rPr b="0" i="0" lang="en-US" sz="3900" u="none" cap="none" strike="noStrike">
                <a:solidFill>
                  <a:srgbClr val="0F2942"/>
                </a:solidFill>
                <a:latin typeface="Plus Jakarta Sans ExtraBold"/>
                <a:ea typeface="Plus Jakarta Sans ExtraBold"/>
                <a:cs typeface="Plus Jakarta Sans ExtraBold"/>
                <a:sym typeface="Plus Jakarta Sans ExtraBold"/>
              </a:rPr>
              <a:t>Mutual Fund Analytics Platform</a:t>
            </a:r>
            <a:endParaRPr/>
          </a:p>
        </p:txBody>
      </p:sp>
      <p:sp>
        <p:nvSpPr>
          <p:cNvPr id="90" name="Google Shape;90;p13"/>
          <p:cNvSpPr txBox="1"/>
          <p:nvPr/>
        </p:nvSpPr>
        <p:spPr>
          <a:xfrm>
            <a:off x="4038600" y="3074640"/>
            <a:ext cx="4114800" cy="231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475569"/>
                </a:solidFill>
                <a:latin typeface="Inter Medium"/>
                <a:ea typeface="Inter Medium"/>
                <a:cs typeface="Inter Medium"/>
                <a:sym typeface="Inter Medium"/>
              </a:rPr>
              <a:t>Bluestock Fintech Internship</a:t>
            </a:r>
            <a:endParaRPr/>
          </a:p>
        </p:txBody>
      </p:sp>
      <p:sp>
        <p:nvSpPr>
          <p:cNvPr id="91" name="Google Shape;91;p13"/>
          <p:cNvSpPr txBox="1"/>
          <p:nvPr/>
        </p:nvSpPr>
        <p:spPr>
          <a:xfrm>
            <a:off x="666750" y="6210300"/>
            <a:ext cx="39243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BLUESTOCK FINTECH INTERNSHIP | CHANDRA SHEKAR CHEGONDI</a:t>
            </a:r>
            <a:endParaRPr/>
          </a:p>
        </p:txBody>
      </p:sp>
      <p:sp>
        <p:nvSpPr>
          <p:cNvPr id="92" name="Google Shape;92;p13"/>
          <p:cNvSpPr txBox="1"/>
          <p:nvPr/>
        </p:nvSpPr>
        <p:spPr>
          <a:xfrm>
            <a:off x="3238500" y="4036665"/>
            <a:ext cx="26670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SemiBold"/>
                <a:ea typeface="Inter SemiBold"/>
                <a:cs typeface="Inter SemiBold"/>
                <a:sym typeface="Inter SemiBold"/>
              </a:rPr>
              <a:t>PRESENTED BY</a:t>
            </a:r>
            <a:endParaRPr/>
          </a:p>
        </p:txBody>
      </p:sp>
      <p:sp>
        <p:nvSpPr>
          <p:cNvPr id="93" name="Google Shape;93;p13"/>
          <p:cNvSpPr txBox="1"/>
          <p:nvPr/>
        </p:nvSpPr>
        <p:spPr>
          <a:xfrm>
            <a:off x="3238500" y="4208115"/>
            <a:ext cx="266700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Inter"/>
                <a:ea typeface="Inter"/>
                <a:cs typeface="Inter"/>
                <a:sym typeface="Inter"/>
              </a:rPr>
              <a:t>Chandra Shekar Chegondi</a:t>
            </a:r>
            <a:endParaRPr/>
          </a:p>
        </p:txBody>
      </p:sp>
      <p:sp>
        <p:nvSpPr>
          <p:cNvPr id="94" name="Google Shape;94;p13"/>
          <p:cNvSpPr txBox="1"/>
          <p:nvPr/>
        </p:nvSpPr>
        <p:spPr>
          <a:xfrm>
            <a:off x="3238500" y="4398615"/>
            <a:ext cx="26670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64748B"/>
                </a:solidFill>
                <a:latin typeface="Inter"/>
                <a:ea typeface="Inter"/>
                <a:cs typeface="Inter"/>
                <a:sym typeface="Inter"/>
              </a:rPr>
              <a:t>Data Analyst Intern</a:t>
            </a:r>
            <a:endParaRPr/>
          </a:p>
        </p:txBody>
      </p:sp>
      <p:sp>
        <p:nvSpPr>
          <p:cNvPr id="95" name="Google Shape;95;p13"/>
          <p:cNvSpPr txBox="1"/>
          <p:nvPr/>
        </p:nvSpPr>
        <p:spPr>
          <a:xfrm>
            <a:off x="6286500" y="4036665"/>
            <a:ext cx="2667000" cy="1333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825" u="none" cap="none" strike="noStrike">
                <a:solidFill>
                  <a:srgbClr val="94A3B8"/>
                </a:solidFill>
                <a:latin typeface="Inter SemiBold"/>
                <a:ea typeface="Inter SemiBold"/>
                <a:cs typeface="Inter SemiBold"/>
                <a:sym typeface="Inter SemiBold"/>
              </a:rPr>
              <a:t>TECHNOLOGIES</a:t>
            </a:r>
            <a:endParaRPr/>
          </a:p>
        </p:txBody>
      </p:sp>
      <p:sp>
        <p:nvSpPr>
          <p:cNvPr id="96" name="Google Shape;96;p13"/>
          <p:cNvSpPr txBox="1"/>
          <p:nvPr/>
        </p:nvSpPr>
        <p:spPr>
          <a:xfrm>
            <a:off x="6286500" y="4208115"/>
            <a:ext cx="2667000" cy="373260"/>
          </a:xfrm>
          <a:prstGeom prst="rect">
            <a:avLst/>
          </a:prstGeom>
          <a:noFill/>
          <a:ln>
            <a:noFill/>
          </a:ln>
        </p:spPr>
        <p:txBody>
          <a:bodyPr anchorCtr="0" anchor="t" bIns="0" lIns="0" spcFirstLastPara="1" rIns="0" wrap="square" tIns="0">
            <a:spAutoFit/>
          </a:bodyPr>
          <a:lstStyle/>
          <a:p>
            <a:pPr indent="0" lvl="0" marL="0" marR="0" rtl="0" algn="r">
              <a:lnSpc>
                <a:spcPct val="81666"/>
              </a:lnSpc>
              <a:spcBef>
                <a:spcPts val="0"/>
              </a:spcBef>
              <a:spcAft>
                <a:spcPts val="0"/>
              </a:spcAft>
              <a:buNone/>
            </a:pPr>
            <a:r>
              <a:rPr b="0" i="0" lang="en-US" sz="1050" u="none" cap="none" strike="noStrike">
                <a:solidFill>
                  <a:srgbClr val="0F2942"/>
                </a:solidFill>
                <a:latin typeface="Inter SemiBold"/>
                <a:ea typeface="Inter SemiBold"/>
                <a:cs typeface="Inter SemiBold"/>
                <a:sym typeface="Inter SemiBold"/>
              </a:rPr>
              <a:t>Python • SQL • SQLite</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0F2942"/>
                </a:solidFill>
                <a:latin typeface="Inter SemiBold"/>
                <a:ea typeface="Inter SemiBold"/>
                <a:cs typeface="Inter SemiBold"/>
                <a:sym typeface="Inter SemiBold"/>
              </a:rPr>
              <a:t> Power BI • Jupyter Notebook</a:t>
            </a:r>
            <a:endParaRPr/>
          </a:p>
        </p:txBody>
      </p:sp>
      <p:pic>
        <p:nvPicPr>
          <p:cNvPr id="97" name="Google Shape;97;p13" title="logo.jpg"/>
          <p:cNvPicPr preferRelativeResize="0"/>
          <p:nvPr/>
        </p:nvPicPr>
        <p:blipFill>
          <a:blip r:embed="rId8">
            <a:alphaModFix/>
          </a:blip>
          <a:stretch>
            <a:fillRect/>
          </a:stretch>
        </p:blipFill>
        <p:spPr>
          <a:xfrm>
            <a:off x="319525" y="291399"/>
            <a:ext cx="1224875" cy="94703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pic>
        <p:nvPicPr>
          <p:cNvPr descr="image.png" id="102" name="Google Shape;10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3" name="Google Shape;103;p14"/>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104" name="Google Shape;104;p14"/>
          <p:cNvPicPr preferRelativeResize="0"/>
          <p:nvPr/>
        </p:nvPicPr>
        <p:blipFill rotWithShape="1">
          <a:blip r:embed="rId5">
            <a:alphaModFix/>
          </a:blip>
          <a:srcRect b="0" l="0" r="0" t="0"/>
          <a:stretch/>
        </p:blipFill>
        <p:spPr>
          <a:xfrm>
            <a:off x="666750" y="1213098"/>
            <a:ext cx="5238750" cy="1714500"/>
          </a:xfrm>
          <a:prstGeom prst="rect">
            <a:avLst/>
          </a:prstGeom>
          <a:noFill/>
          <a:ln>
            <a:noFill/>
          </a:ln>
        </p:spPr>
      </p:pic>
      <p:pic>
        <p:nvPicPr>
          <p:cNvPr descr="image.png" id="105" name="Google Shape;105;p14"/>
          <p:cNvPicPr preferRelativeResize="0"/>
          <p:nvPr/>
        </p:nvPicPr>
        <p:blipFill rotWithShape="1">
          <a:blip r:embed="rId6">
            <a:alphaModFix/>
          </a:blip>
          <a:srcRect b="0" l="0" r="0" t="0"/>
          <a:stretch/>
        </p:blipFill>
        <p:spPr>
          <a:xfrm>
            <a:off x="666750" y="3118098"/>
            <a:ext cx="5238750" cy="2812553"/>
          </a:xfrm>
          <a:prstGeom prst="rect">
            <a:avLst/>
          </a:prstGeom>
          <a:noFill/>
          <a:ln>
            <a:noFill/>
          </a:ln>
        </p:spPr>
      </p:pic>
      <p:pic>
        <p:nvPicPr>
          <p:cNvPr descr="image.png" id="106" name="Google Shape;106;p14"/>
          <p:cNvPicPr preferRelativeResize="0"/>
          <p:nvPr/>
        </p:nvPicPr>
        <p:blipFill rotWithShape="1">
          <a:blip r:embed="rId7">
            <a:alphaModFix/>
          </a:blip>
          <a:srcRect b="0" l="0" r="0" t="0"/>
          <a:stretch/>
        </p:blipFill>
        <p:spPr>
          <a:xfrm>
            <a:off x="666750" y="6019800"/>
            <a:ext cx="10858500" cy="361950"/>
          </a:xfrm>
          <a:prstGeom prst="rect">
            <a:avLst/>
          </a:prstGeom>
          <a:noFill/>
          <a:ln>
            <a:noFill/>
          </a:ln>
        </p:spPr>
      </p:pic>
      <p:sp>
        <p:nvSpPr>
          <p:cNvPr id="107" name="Google Shape;107;p14"/>
          <p:cNvSpPr txBox="1"/>
          <p:nvPr/>
        </p:nvSpPr>
        <p:spPr>
          <a:xfrm>
            <a:off x="666750" y="6210300"/>
            <a:ext cx="22098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PROBLEM STATEMENT &amp; OBJECTIVES</a:t>
            </a:r>
            <a:endParaRPr/>
          </a:p>
        </p:txBody>
      </p:sp>
      <p:sp>
        <p:nvSpPr>
          <p:cNvPr id="108" name="Google Shape;108;p14"/>
          <p:cNvSpPr txBox="1"/>
          <p:nvPr/>
        </p:nvSpPr>
        <p:spPr>
          <a:xfrm>
            <a:off x="6372225"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109" name="Google Shape;109;p14"/>
          <p:cNvSpPr txBox="1"/>
          <p:nvPr/>
        </p:nvSpPr>
        <p:spPr>
          <a:xfrm>
            <a:off x="933450" y="1451223"/>
            <a:ext cx="4970621"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991B1B"/>
                </a:solidFill>
                <a:latin typeface="Plus Jakarta Sans SemiBold"/>
                <a:ea typeface="Plus Jakarta Sans SemiBold"/>
                <a:cs typeface="Plus Jakarta Sans SemiBold"/>
                <a:sym typeface="Plus Jakarta Sans SemiBold"/>
              </a:rPr>
              <a:t>The Problem</a:t>
            </a:r>
            <a:endParaRPr/>
          </a:p>
        </p:txBody>
      </p:sp>
      <p:sp>
        <p:nvSpPr>
          <p:cNvPr id="110" name="Google Shape;110;p14"/>
          <p:cNvSpPr txBox="1"/>
          <p:nvPr/>
        </p:nvSpPr>
        <p:spPr>
          <a:xfrm>
            <a:off x="933450" y="1832223"/>
            <a:ext cx="4733925" cy="85725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Inter"/>
                <a:ea typeface="Inter"/>
                <a:cs typeface="Inter"/>
                <a:sym typeface="Inter"/>
              </a:rPr>
              <a:t>Indian mutual fund data is available from multiple public sources but is highly fragmented, inconsistent, and difficult to compile manually. Investors lack an integrated platform that connects diverse metrics into unified, actionable insights on performance, inflows, and risk.</a:t>
            </a:r>
            <a:endParaRPr/>
          </a:p>
        </p:txBody>
      </p:sp>
      <p:sp>
        <p:nvSpPr>
          <p:cNvPr id="111" name="Google Shape;111;p14"/>
          <p:cNvSpPr txBox="1"/>
          <p:nvPr/>
        </p:nvSpPr>
        <p:spPr>
          <a:xfrm>
            <a:off x="933450" y="3356223"/>
            <a:ext cx="4970621"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65F46"/>
                </a:solidFill>
                <a:latin typeface="Plus Jakarta Sans SemiBold"/>
                <a:ea typeface="Plus Jakarta Sans SemiBold"/>
                <a:cs typeface="Plus Jakarta Sans SemiBold"/>
                <a:sym typeface="Plus Jakarta Sans SemiBold"/>
              </a:rPr>
              <a:t>Core Objectives</a:t>
            </a:r>
            <a:endParaRPr/>
          </a:p>
        </p:txBody>
      </p:sp>
      <p:pic>
        <p:nvPicPr>
          <p:cNvPr descr="image.png" id="112" name="Google Shape;112;p14"/>
          <p:cNvPicPr preferRelativeResize="0"/>
          <p:nvPr/>
        </p:nvPicPr>
        <p:blipFill rotWithShape="1">
          <a:blip r:embed="rId8">
            <a:alphaModFix/>
          </a:blip>
          <a:srcRect b="0" l="0" r="0" t="0"/>
          <a:stretch/>
        </p:blipFill>
        <p:spPr>
          <a:xfrm>
            <a:off x="933450" y="1489323"/>
            <a:ext cx="209550" cy="209550"/>
          </a:xfrm>
          <a:prstGeom prst="rect">
            <a:avLst/>
          </a:prstGeom>
          <a:noFill/>
          <a:ln>
            <a:noFill/>
          </a:ln>
        </p:spPr>
      </p:pic>
      <p:pic>
        <p:nvPicPr>
          <p:cNvPr descr="image.png" id="113" name="Google Shape;113;p14"/>
          <p:cNvPicPr preferRelativeResize="0"/>
          <p:nvPr/>
        </p:nvPicPr>
        <p:blipFill rotWithShape="1">
          <a:blip r:embed="rId9">
            <a:alphaModFix/>
          </a:blip>
          <a:srcRect b="0" l="0" r="0" t="0"/>
          <a:stretch/>
        </p:blipFill>
        <p:spPr>
          <a:xfrm>
            <a:off x="933450" y="3394323"/>
            <a:ext cx="209550" cy="209550"/>
          </a:xfrm>
          <a:prstGeom prst="rect">
            <a:avLst/>
          </a:prstGeom>
          <a:noFill/>
          <a:ln>
            <a:noFill/>
          </a:ln>
        </p:spPr>
      </p:pic>
      <p:sp>
        <p:nvSpPr>
          <p:cNvPr id="114" name="Google Shape;114;p14"/>
          <p:cNvSpPr txBox="1"/>
          <p:nvPr/>
        </p:nvSpPr>
        <p:spPr>
          <a:xfrm>
            <a:off x="1200150" y="3737223"/>
            <a:ext cx="4467225"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ETL Automation:</a:t>
            </a:r>
            <a:r>
              <a:rPr b="0" i="0" lang="en-US" sz="1162" u="none" cap="none" strike="noStrike">
                <a:solidFill>
                  <a:srgbClr val="475569"/>
                </a:solidFill>
                <a:latin typeface="Inter"/>
                <a:ea typeface="Inter"/>
                <a:cs typeface="Inter"/>
                <a:sym typeface="Inter"/>
              </a:rPr>
              <a:t> Build programmatic cleaning, transformations, and processing steps.</a:t>
            </a:r>
            <a:endParaRPr/>
          </a:p>
        </p:txBody>
      </p:sp>
      <p:sp>
        <p:nvSpPr>
          <p:cNvPr id="115" name="Google Shape;115;p14"/>
          <p:cNvSpPr txBox="1"/>
          <p:nvPr/>
        </p:nvSpPr>
        <p:spPr>
          <a:xfrm>
            <a:off x="1200150" y="4279552"/>
            <a:ext cx="4467225"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Unified Database:</a:t>
            </a:r>
            <a:r>
              <a:rPr b="0" i="0" lang="en-US" sz="1162" u="none" cap="none" strike="noStrike">
                <a:solidFill>
                  <a:srgbClr val="475569"/>
                </a:solidFill>
                <a:latin typeface="Inter"/>
                <a:ea typeface="Inter"/>
                <a:cs typeface="Inter"/>
                <a:sym typeface="Inter"/>
              </a:rPr>
              <a:t> Load data inside a lightweight structured SQLite backend.</a:t>
            </a:r>
            <a:endParaRPr/>
          </a:p>
        </p:txBody>
      </p:sp>
      <p:sp>
        <p:nvSpPr>
          <p:cNvPr id="116" name="Google Shape;116;p14"/>
          <p:cNvSpPr txBox="1"/>
          <p:nvPr/>
        </p:nvSpPr>
        <p:spPr>
          <a:xfrm>
            <a:off x="1200150" y="4821882"/>
            <a:ext cx="4467225"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Statistical EDA:</a:t>
            </a:r>
            <a:r>
              <a:rPr b="0" i="0" lang="en-US" sz="1162" u="none" cap="none" strike="noStrike">
                <a:solidFill>
                  <a:srgbClr val="475569"/>
                </a:solidFill>
                <a:latin typeface="Inter"/>
                <a:ea typeface="Inter"/>
                <a:cs typeface="Inter"/>
                <a:sym typeface="Inter"/>
              </a:rPr>
              <a:t> Conduct thorough Exploratory Data Analysis.</a:t>
            </a:r>
            <a:endParaRPr/>
          </a:p>
        </p:txBody>
      </p:sp>
      <p:sp>
        <p:nvSpPr>
          <p:cNvPr id="117" name="Google Shape;117;p14"/>
          <p:cNvSpPr txBox="1"/>
          <p:nvPr/>
        </p:nvSpPr>
        <p:spPr>
          <a:xfrm>
            <a:off x="1200150" y="5150197"/>
            <a:ext cx="4467225"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Risk-Return Calculations:</a:t>
            </a:r>
            <a:r>
              <a:rPr b="0" i="0" lang="en-US" sz="1162" u="none" cap="none" strike="noStrike">
                <a:solidFill>
                  <a:srgbClr val="475569"/>
                </a:solidFill>
                <a:latin typeface="Inter"/>
                <a:ea typeface="Inter"/>
                <a:cs typeface="Inter"/>
                <a:sym typeface="Inter"/>
              </a:rPr>
              <a:t> Derive CAGR, Sharpe, and Sortino metrics.</a:t>
            </a:r>
            <a:endParaRPr/>
          </a:p>
        </p:txBody>
      </p:sp>
      <p:pic>
        <p:nvPicPr>
          <p:cNvPr descr="image.png" id="118" name="Google Shape;118;p14"/>
          <p:cNvPicPr preferRelativeResize="0"/>
          <p:nvPr/>
        </p:nvPicPr>
        <p:blipFill rotWithShape="1">
          <a:blip r:embed="rId10">
            <a:alphaModFix/>
          </a:blip>
          <a:srcRect b="0" l="0" r="0" t="0"/>
          <a:stretch/>
        </p:blipFill>
        <p:spPr>
          <a:xfrm>
            <a:off x="933450" y="3765798"/>
            <a:ext cx="152400" cy="152400"/>
          </a:xfrm>
          <a:prstGeom prst="rect">
            <a:avLst/>
          </a:prstGeom>
          <a:noFill/>
          <a:ln>
            <a:noFill/>
          </a:ln>
        </p:spPr>
      </p:pic>
      <p:pic>
        <p:nvPicPr>
          <p:cNvPr descr="image.png" id="119" name="Google Shape;119;p14"/>
          <p:cNvPicPr preferRelativeResize="0"/>
          <p:nvPr/>
        </p:nvPicPr>
        <p:blipFill rotWithShape="1">
          <a:blip r:embed="rId10">
            <a:alphaModFix/>
          </a:blip>
          <a:srcRect b="0" l="0" r="0" t="0"/>
          <a:stretch/>
        </p:blipFill>
        <p:spPr>
          <a:xfrm>
            <a:off x="933450" y="4308127"/>
            <a:ext cx="152400" cy="152400"/>
          </a:xfrm>
          <a:prstGeom prst="rect">
            <a:avLst/>
          </a:prstGeom>
          <a:noFill/>
          <a:ln>
            <a:noFill/>
          </a:ln>
        </p:spPr>
      </p:pic>
      <p:pic>
        <p:nvPicPr>
          <p:cNvPr descr="image.png" id="120" name="Google Shape;120;p14"/>
          <p:cNvPicPr preferRelativeResize="0"/>
          <p:nvPr/>
        </p:nvPicPr>
        <p:blipFill rotWithShape="1">
          <a:blip r:embed="rId10">
            <a:alphaModFix/>
          </a:blip>
          <a:srcRect b="0" l="0" r="0" t="0"/>
          <a:stretch/>
        </p:blipFill>
        <p:spPr>
          <a:xfrm>
            <a:off x="933450" y="4850457"/>
            <a:ext cx="152400" cy="152400"/>
          </a:xfrm>
          <a:prstGeom prst="rect">
            <a:avLst/>
          </a:prstGeom>
          <a:noFill/>
          <a:ln>
            <a:noFill/>
          </a:ln>
        </p:spPr>
      </p:pic>
      <p:pic>
        <p:nvPicPr>
          <p:cNvPr descr="image.png" id="121" name="Google Shape;121;p14"/>
          <p:cNvPicPr preferRelativeResize="0"/>
          <p:nvPr/>
        </p:nvPicPr>
        <p:blipFill rotWithShape="1">
          <a:blip r:embed="rId10">
            <a:alphaModFix/>
          </a:blip>
          <a:srcRect b="0" l="0" r="0" t="0"/>
          <a:stretch/>
        </p:blipFill>
        <p:spPr>
          <a:xfrm>
            <a:off x="933450" y="5178772"/>
            <a:ext cx="152400" cy="152400"/>
          </a:xfrm>
          <a:prstGeom prst="rect">
            <a:avLst/>
          </a:prstGeom>
          <a:noFill/>
          <a:ln>
            <a:noFill/>
          </a:ln>
        </p:spPr>
      </p:pic>
      <p:sp>
        <p:nvSpPr>
          <p:cNvPr id="122" name="Google Shape;122;p14"/>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Problem Statement &amp; Objectives</a:t>
            </a:r>
            <a:endParaRPr/>
          </a:p>
        </p:txBody>
      </p:sp>
      <p:sp>
        <p:nvSpPr>
          <p:cNvPr id="123" name="Google Shape;123;p14"/>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4" name="Google Shape;124;p14"/>
          <p:cNvPicPr preferRelativeResize="0"/>
          <p:nvPr/>
        </p:nvPicPr>
        <p:blipFill>
          <a:blip r:embed="rId11">
            <a:alphaModFix/>
          </a:blip>
          <a:stretch>
            <a:fillRect/>
          </a:stretch>
        </p:blipFill>
        <p:spPr>
          <a:xfrm>
            <a:off x="6305550" y="1717926"/>
            <a:ext cx="5219699" cy="38331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pic>
        <p:nvPicPr>
          <p:cNvPr descr="image.png" id="129" name="Google Shape;12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0" name="Google Shape;130;p15"/>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131" name="Google Shape;131;p15"/>
          <p:cNvPicPr preferRelativeResize="0"/>
          <p:nvPr/>
        </p:nvPicPr>
        <p:blipFill rotWithShape="1">
          <a:blip r:embed="rId5">
            <a:alphaModFix/>
          </a:blip>
          <a:srcRect b="0" l="0" r="0" t="0"/>
          <a:stretch/>
        </p:blipFill>
        <p:spPr>
          <a:xfrm>
            <a:off x="666750" y="6019800"/>
            <a:ext cx="10858500" cy="361950"/>
          </a:xfrm>
          <a:prstGeom prst="rect">
            <a:avLst/>
          </a:prstGeom>
          <a:noFill/>
          <a:ln>
            <a:noFill/>
          </a:ln>
        </p:spPr>
      </p:pic>
      <p:sp>
        <p:nvSpPr>
          <p:cNvPr id="132" name="Google Shape;132;p15"/>
          <p:cNvSpPr txBox="1"/>
          <p:nvPr/>
        </p:nvSpPr>
        <p:spPr>
          <a:xfrm>
            <a:off x="666750" y="6210300"/>
            <a:ext cx="22479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DATABASE SCHEMA &amp; DATA SOURCES</a:t>
            </a:r>
            <a:endParaRPr/>
          </a:p>
        </p:txBody>
      </p:sp>
      <p:sp>
        <p:nvSpPr>
          <p:cNvPr id="133" name="Google Shape;133;p15"/>
          <p:cNvSpPr txBox="1"/>
          <p:nvPr/>
        </p:nvSpPr>
        <p:spPr>
          <a:xfrm>
            <a:off x="6391275"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graphicFrame>
        <p:nvGraphicFramePr>
          <p:cNvPr id="134" name="Google Shape;134;p15"/>
          <p:cNvGraphicFramePr/>
          <p:nvPr/>
        </p:nvGraphicFramePr>
        <p:xfrm>
          <a:off x="666750" y="2147887"/>
          <a:ext cx="3000000" cy="3000000"/>
        </p:xfrm>
        <a:graphic>
          <a:graphicData uri="http://schemas.openxmlformats.org/drawingml/2006/table">
            <a:tbl>
              <a:tblPr bandRow="1" firstRow="1">
                <a:noFill/>
                <a:tableStyleId>{79C140BD-61DD-4EA2-8090-AD644BD09FEC}</a:tableStyleId>
              </a:tblPr>
              <a:tblGrid>
                <a:gridCol w="1623575"/>
                <a:gridCol w="3615175"/>
              </a:tblGrid>
              <a:tr h="367400">
                <a:tc>
                  <a:txBody>
                    <a:bodyPr/>
                    <a:lstStyle/>
                    <a:p>
                      <a:pPr indent="0" lvl="0" marL="0" marR="0" rtl="0" algn="l">
                        <a:spcBef>
                          <a:spcPts val="0"/>
                        </a:spcBef>
                        <a:spcAft>
                          <a:spcPts val="0"/>
                        </a:spcAft>
                        <a:buNone/>
                      </a:pPr>
                      <a:r>
                        <a:rPr b="0" i="0" lang="en-US" sz="1050" u="none" cap="none" strike="noStrike">
                          <a:solidFill>
                            <a:srgbClr val="FFFFFF"/>
                          </a:solidFill>
                          <a:latin typeface="Plus Jakarta Sans SemiBold"/>
                          <a:ea typeface="Plus Jakarta Sans SemiBold"/>
                          <a:cs typeface="Plus Jakarta Sans SemiBold"/>
                          <a:sym typeface="Plus Jakarta Sans SemiBold"/>
                        </a:rPr>
                        <a:t>Dataset Table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942"/>
                    </a:solidFill>
                  </a:tcPr>
                </a:tc>
                <a:tc>
                  <a:txBody>
                    <a:bodyPr/>
                    <a:lstStyle/>
                    <a:p>
                      <a:pPr indent="0" lvl="0" marL="0" marR="0" rtl="0" algn="l">
                        <a:spcBef>
                          <a:spcPts val="0"/>
                        </a:spcBef>
                        <a:spcAft>
                          <a:spcPts val="0"/>
                        </a:spcAft>
                        <a:buNone/>
                      </a:pPr>
                      <a:r>
                        <a:rPr b="0" i="0" lang="en-US" sz="1050" u="none" cap="none" strike="noStrike">
                          <a:solidFill>
                            <a:srgbClr val="FFFFFF"/>
                          </a:solidFill>
                          <a:latin typeface="Plus Jakarta Sans SemiBold"/>
                          <a:ea typeface="Plus Jakarta Sans SemiBold"/>
                          <a:cs typeface="Plus Jakarta Sans SemiBold"/>
                          <a:sym typeface="Plus Jakarta Sans SemiBold"/>
                        </a:rPr>
                        <a:t>Description / 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942"/>
                    </a:solidFill>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Fund Master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Scheme classification and meta-info.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NAV History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Daily NAV valuations and timeline.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AUM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Assets Under Management by fund scheme.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SIP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Monthly Systematic Investment Plan metrics.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Category Inflows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Fund categorizations and net inward volumes.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7400">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Investor Trx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Transaction volume and behavioral attributes.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graphicFrame>
        <p:nvGraphicFramePr>
          <p:cNvPr id="135" name="Google Shape;135;p15"/>
          <p:cNvGraphicFramePr/>
          <p:nvPr/>
        </p:nvGraphicFramePr>
        <p:xfrm>
          <a:off x="6286500" y="2520299"/>
          <a:ext cx="3000000" cy="3000000"/>
        </p:xfrm>
        <a:graphic>
          <a:graphicData uri="http://schemas.openxmlformats.org/drawingml/2006/table">
            <a:tbl>
              <a:tblPr bandRow="1" firstRow="1">
                <a:noFill/>
                <a:tableStyleId>{79C140BD-61DD-4EA2-8090-AD644BD09FEC}</a:tableStyleId>
              </a:tblPr>
              <a:tblGrid>
                <a:gridCol w="1964525"/>
                <a:gridCol w="3274225"/>
              </a:tblGrid>
              <a:tr h="369575">
                <a:tc>
                  <a:txBody>
                    <a:bodyPr/>
                    <a:lstStyle/>
                    <a:p>
                      <a:pPr indent="0" lvl="0" marL="0" marR="0" rtl="0" algn="l">
                        <a:spcBef>
                          <a:spcPts val="0"/>
                        </a:spcBef>
                        <a:spcAft>
                          <a:spcPts val="0"/>
                        </a:spcAft>
                        <a:buNone/>
                      </a:pPr>
                      <a:r>
                        <a:rPr b="0" i="0" lang="en-US" sz="1050" u="none" cap="none" strike="noStrike">
                          <a:solidFill>
                            <a:srgbClr val="FFFFFF"/>
                          </a:solidFill>
                          <a:latin typeface="Plus Jakarta Sans SemiBold"/>
                          <a:ea typeface="Plus Jakarta Sans SemiBold"/>
                          <a:cs typeface="Plus Jakarta Sans SemiBold"/>
                          <a:sym typeface="Plus Jakarta Sans SemiBold"/>
                        </a:rPr>
                        <a:t>Dataset Table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942"/>
                    </a:solidFill>
                  </a:tcPr>
                </a:tc>
                <a:tc>
                  <a:txBody>
                    <a:bodyPr/>
                    <a:lstStyle/>
                    <a:p>
                      <a:pPr indent="0" lvl="0" marL="0" marR="0" rtl="0" algn="l">
                        <a:spcBef>
                          <a:spcPts val="0"/>
                        </a:spcBef>
                        <a:spcAft>
                          <a:spcPts val="0"/>
                        </a:spcAft>
                        <a:buNone/>
                      </a:pPr>
                      <a:r>
                        <a:rPr b="0" i="0" lang="en-US" sz="1050" u="none" cap="none" strike="noStrike">
                          <a:solidFill>
                            <a:srgbClr val="FFFFFF"/>
                          </a:solidFill>
                          <a:latin typeface="Plus Jakarta Sans SemiBold"/>
                          <a:ea typeface="Plus Jakarta Sans SemiBold"/>
                          <a:cs typeface="Plus Jakarta Sans SemiBold"/>
                          <a:sym typeface="Plus Jakarta Sans SemiBold"/>
                        </a:rPr>
                        <a:t>Description / 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942"/>
                    </a:solidFill>
                  </a:tcPr>
                </a:tc>
              </a:tr>
              <a:tr h="369575">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Portfolio Holdings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Asset allocations &amp; security positions.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9575">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Benchmark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Nifty, Sensex, and sector index records.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69575">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Performance Metrics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Calculated compound returns and risk.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9575">
                <a:tc>
                  <a:txBody>
                    <a:bodyPr/>
                    <a:lstStyle/>
                    <a:p>
                      <a:pPr indent="0" lvl="0" marL="0" marR="0" rtl="0" algn="l">
                        <a:spcBef>
                          <a:spcPts val="0"/>
                        </a:spcBef>
                        <a:spcAft>
                          <a:spcPts val="0"/>
                        </a:spcAft>
                        <a:buNone/>
                      </a:pPr>
                      <a:r>
                        <a:rPr b="1" i="0" lang="en-US" sz="1050" u="none" cap="none" strike="noStrike">
                          <a:solidFill>
                            <a:srgbClr val="334155"/>
                          </a:solidFill>
                          <a:latin typeface="Inter"/>
                          <a:ea typeface="Inter"/>
                          <a:cs typeface="Inter"/>
                          <a:sym typeface="Inter"/>
                        </a:rPr>
                        <a:t>Industry Stats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334155"/>
                          </a:solidFill>
                          <a:latin typeface="Inter"/>
                          <a:ea typeface="Inter"/>
                          <a:cs typeface="Inter"/>
                          <a:sym typeface="Inter"/>
                        </a:rPr>
                        <a:t>Aggregate historical AMFI sector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136" name="Google Shape;136;p15"/>
          <p:cNvSpPr/>
          <p:nvPr/>
        </p:nvSpPr>
        <p:spPr>
          <a:xfrm>
            <a:off x="666750" y="289560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5"/>
          <p:cNvSpPr/>
          <p:nvPr/>
        </p:nvSpPr>
        <p:spPr>
          <a:xfrm>
            <a:off x="2290316" y="289560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5"/>
          <p:cNvSpPr/>
          <p:nvPr/>
        </p:nvSpPr>
        <p:spPr>
          <a:xfrm>
            <a:off x="666750" y="325755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5"/>
          <p:cNvSpPr/>
          <p:nvPr/>
        </p:nvSpPr>
        <p:spPr>
          <a:xfrm>
            <a:off x="2290316" y="325755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5"/>
          <p:cNvSpPr/>
          <p:nvPr/>
        </p:nvSpPr>
        <p:spPr>
          <a:xfrm>
            <a:off x="666750" y="361950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5"/>
          <p:cNvSpPr/>
          <p:nvPr/>
        </p:nvSpPr>
        <p:spPr>
          <a:xfrm>
            <a:off x="2290316" y="361950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5"/>
          <p:cNvSpPr/>
          <p:nvPr/>
        </p:nvSpPr>
        <p:spPr>
          <a:xfrm>
            <a:off x="666750" y="398145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5"/>
          <p:cNvSpPr/>
          <p:nvPr/>
        </p:nvSpPr>
        <p:spPr>
          <a:xfrm>
            <a:off x="2290316" y="398145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5"/>
          <p:cNvSpPr/>
          <p:nvPr/>
        </p:nvSpPr>
        <p:spPr>
          <a:xfrm>
            <a:off x="666750" y="434340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5"/>
          <p:cNvSpPr/>
          <p:nvPr/>
        </p:nvSpPr>
        <p:spPr>
          <a:xfrm>
            <a:off x="2290316" y="434340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5"/>
          <p:cNvSpPr/>
          <p:nvPr/>
        </p:nvSpPr>
        <p:spPr>
          <a:xfrm>
            <a:off x="666750" y="4705350"/>
            <a:ext cx="16235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5"/>
          <p:cNvSpPr/>
          <p:nvPr/>
        </p:nvSpPr>
        <p:spPr>
          <a:xfrm>
            <a:off x="2290316" y="4705350"/>
            <a:ext cx="36151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5"/>
          <p:cNvSpPr/>
          <p:nvPr/>
        </p:nvSpPr>
        <p:spPr>
          <a:xfrm>
            <a:off x="6286500" y="2895600"/>
            <a:ext cx="196453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5"/>
          <p:cNvSpPr/>
          <p:nvPr/>
        </p:nvSpPr>
        <p:spPr>
          <a:xfrm>
            <a:off x="8251031" y="2895600"/>
            <a:ext cx="32742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5"/>
          <p:cNvSpPr/>
          <p:nvPr/>
        </p:nvSpPr>
        <p:spPr>
          <a:xfrm>
            <a:off x="6286500" y="3257550"/>
            <a:ext cx="196453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5"/>
          <p:cNvSpPr/>
          <p:nvPr/>
        </p:nvSpPr>
        <p:spPr>
          <a:xfrm>
            <a:off x="8251031" y="3257550"/>
            <a:ext cx="32742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5"/>
          <p:cNvSpPr/>
          <p:nvPr/>
        </p:nvSpPr>
        <p:spPr>
          <a:xfrm>
            <a:off x="6286500" y="3619500"/>
            <a:ext cx="196453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5"/>
          <p:cNvSpPr/>
          <p:nvPr/>
        </p:nvSpPr>
        <p:spPr>
          <a:xfrm>
            <a:off x="8251031" y="3619500"/>
            <a:ext cx="32742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5"/>
          <p:cNvSpPr/>
          <p:nvPr/>
        </p:nvSpPr>
        <p:spPr>
          <a:xfrm>
            <a:off x="6286500" y="3981450"/>
            <a:ext cx="196453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5"/>
          <p:cNvSpPr/>
          <p:nvPr/>
        </p:nvSpPr>
        <p:spPr>
          <a:xfrm>
            <a:off x="8251031" y="3981450"/>
            <a:ext cx="32742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5"/>
          <p:cNvSpPr txBox="1"/>
          <p:nvPr/>
        </p:nvSpPr>
        <p:spPr>
          <a:xfrm>
            <a:off x="809625" y="476250"/>
            <a:ext cx="11251500" cy="3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Data</a:t>
            </a:r>
            <a:r>
              <a:rPr b="1" lang="en-US" sz="2550">
                <a:solidFill>
                  <a:srgbClr val="0F2942"/>
                </a:solidFill>
                <a:latin typeface="Plus Jakarta Sans"/>
                <a:ea typeface="Plus Jakarta Sans"/>
                <a:cs typeface="Plus Jakarta Sans"/>
                <a:sym typeface="Plus Jakarta Sans"/>
              </a:rPr>
              <a:t>set Overview</a:t>
            </a:r>
            <a:endParaRPr/>
          </a:p>
        </p:txBody>
      </p:sp>
      <p:sp>
        <p:nvSpPr>
          <p:cNvPr id="157" name="Google Shape;157;p15"/>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pic>
        <p:nvPicPr>
          <p:cNvPr descr="image.png" id="162" name="Google Shape;162;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3" name="Google Shape;163;p16"/>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164" name="Google Shape;164;p16"/>
          <p:cNvPicPr preferRelativeResize="0"/>
          <p:nvPr/>
        </p:nvPicPr>
        <p:blipFill rotWithShape="1">
          <a:blip r:embed="rId5">
            <a:alphaModFix/>
          </a:blip>
          <a:srcRect b="0" l="0" r="0" t="0"/>
          <a:stretch/>
        </p:blipFill>
        <p:spPr>
          <a:xfrm>
            <a:off x="666750" y="1919882"/>
            <a:ext cx="6400800" cy="3303984"/>
          </a:xfrm>
          <a:prstGeom prst="rect">
            <a:avLst/>
          </a:prstGeom>
          <a:noFill/>
          <a:ln>
            <a:noFill/>
          </a:ln>
        </p:spPr>
      </p:pic>
      <p:pic>
        <p:nvPicPr>
          <p:cNvPr descr="image.png" id="165" name="Google Shape;165;p16"/>
          <p:cNvPicPr preferRelativeResize="0"/>
          <p:nvPr/>
        </p:nvPicPr>
        <p:blipFill rotWithShape="1">
          <a:blip r:embed="rId6">
            <a:alphaModFix/>
          </a:blip>
          <a:srcRect b="0" l="0" r="0" t="0"/>
          <a:stretch/>
        </p:blipFill>
        <p:spPr>
          <a:xfrm>
            <a:off x="7258050" y="1919882"/>
            <a:ext cx="4267200" cy="3303984"/>
          </a:xfrm>
          <a:prstGeom prst="rect">
            <a:avLst/>
          </a:prstGeom>
          <a:noFill/>
          <a:ln>
            <a:noFill/>
          </a:ln>
        </p:spPr>
      </p:pic>
      <p:pic>
        <p:nvPicPr>
          <p:cNvPr descr="image.png" id="166" name="Google Shape;166;p16"/>
          <p:cNvPicPr preferRelativeResize="0"/>
          <p:nvPr/>
        </p:nvPicPr>
        <p:blipFill rotWithShape="1">
          <a:blip r:embed="rId7">
            <a:alphaModFix/>
          </a:blip>
          <a:srcRect b="0" l="0" r="0" t="0"/>
          <a:stretch/>
        </p:blipFill>
        <p:spPr>
          <a:xfrm>
            <a:off x="866775" y="3643907"/>
            <a:ext cx="6000750" cy="1379934"/>
          </a:xfrm>
          <a:prstGeom prst="rect">
            <a:avLst/>
          </a:prstGeom>
          <a:noFill/>
          <a:ln>
            <a:noFill/>
          </a:ln>
        </p:spPr>
      </p:pic>
      <p:pic>
        <p:nvPicPr>
          <p:cNvPr descr="image.png" id="167" name="Google Shape;167;p16"/>
          <p:cNvPicPr preferRelativeResize="0"/>
          <p:nvPr/>
        </p:nvPicPr>
        <p:blipFill rotWithShape="1">
          <a:blip r:embed="rId8">
            <a:alphaModFix/>
          </a:blip>
          <a:srcRect b="0" l="0" r="0" t="0"/>
          <a:stretch/>
        </p:blipFill>
        <p:spPr>
          <a:xfrm>
            <a:off x="1014412" y="2624732"/>
            <a:ext cx="419100" cy="419100"/>
          </a:xfrm>
          <a:prstGeom prst="rect">
            <a:avLst/>
          </a:prstGeom>
          <a:noFill/>
          <a:ln>
            <a:noFill/>
          </a:ln>
        </p:spPr>
      </p:pic>
      <p:pic>
        <p:nvPicPr>
          <p:cNvPr descr="image.png" id="168" name="Google Shape;168;p16"/>
          <p:cNvPicPr preferRelativeResize="0"/>
          <p:nvPr/>
        </p:nvPicPr>
        <p:blipFill rotWithShape="1">
          <a:blip r:embed="rId9">
            <a:alphaModFix/>
          </a:blip>
          <a:srcRect b="0" l="0" r="0" t="0"/>
          <a:stretch/>
        </p:blipFill>
        <p:spPr>
          <a:xfrm>
            <a:off x="2336006" y="2624732"/>
            <a:ext cx="419100" cy="419100"/>
          </a:xfrm>
          <a:prstGeom prst="rect">
            <a:avLst/>
          </a:prstGeom>
          <a:noFill/>
          <a:ln>
            <a:noFill/>
          </a:ln>
        </p:spPr>
      </p:pic>
      <p:pic>
        <p:nvPicPr>
          <p:cNvPr descr="image.png" id="169" name="Google Shape;169;p16"/>
          <p:cNvPicPr preferRelativeResize="0"/>
          <p:nvPr/>
        </p:nvPicPr>
        <p:blipFill rotWithShape="1">
          <a:blip r:embed="rId10">
            <a:alphaModFix/>
          </a:blip>
          <a:srcRect b="0" l="0" r="0" t="0"/>
          <a:stretch/>
        </p:blipFill>
        <p:spPr>
          <a:xfrm>
            <a:off x="3657600" y="2624732"/>
            <a:ext cx="419100" cy="419100"/>
          </a:xfrm>
          <a:prstGeom prst="rect">
            <a:avLst/>
          </a:prstGeom>
          <a:noFill/>
          <a:ln>
            <a:noFill/>
          </a:ln>
        </p:spPr>
      </p:pic>
      <p:pic>
        <p:nvPicPr>
          <p:cNvPr descr="image.png" id="170" name="Google Shape;170;p16"/>
          <p:cNvPicPr preferRelativeResize="0"/>
          <p:nvPr/>
        </p:nvPicPr>
        <p:blipFill rotWithShape="1">
          <a:blip r:embed="rId11">
            <a:alphaModFix/>
          </a:blip>
          <a:srcRect b="0" l="0" r="0" t="0"/>
          <a:stretch/>
        </p:blipFill>
        <p:spPr>
          <a:xfrm>
            <a:off x="4979193" y="2624732"/>
            <a:ext cx="419100" cy="419100"/>
          </a:xfrm>
          <a:prstGeom prst="rect">
            <a:avLst/>
          </a:prstGeom>
          <a:noFill/>
          <a:ln>
            <a:noFill/>
          </a:ln>
        </p:spPr>
      </p:pic>
      <p:pic>
        <p:nvPicPr>
          <p:cNvPr descr="image.png" id="171" name="Google Shape;171;p16"/>
          <p:cNvPicPr preferRelativeResize="0"/>
          <p:nvPr/>
        </p:nvPicPr>
        <p:blipFill rotWithShape="1">
          <a:blip r:embed="rId12">
            <a:alphaModFix/>
          </a:blip>
          <a:srcRect b="0" l="0" r="0" t="0"/>
          <a:stretch/>
        </p:blipFill>
        <p:spPr>
          <a:xfrm>
            <a:off x="6300787" y="2624732"/>
            <a:ext cx="419100" cy="419100"/>
          </a:xfrm>
          <a:prstGeom prst="rect">
            <a:avLst/>
          </a:prstGeom>
          <a:noFill/>
          <a:ln>
            <a:noFill/>
          </a:ln>
        </p:spPr>
      </p:pic>
      <p:pic>
        <p:nvPicPr>
          <p:cNvPr descr="image.png" id="172" name="Google Shape;172;p16"/>
          <p:cNvPicPr preferRelativeResize="0"/>
          <p:nvPr/>
        </p:nvPicPr>
        <p:blipFill rotWithShape="1">
          <a:blip r:embed="rId13">
            <a:alphaModFix/>
          </a:blip>
          <a:srcRect b="0" l="0" r="0" t="0"/>
          <a:stretch/>
        </p:blipFill>
        <p:spPr>
          <a:xfrm>
            <a:off x="666750" y="6019800"/>
            <a:ext cx="10858500" cy="361950"/>
          </a:xfrm>
          <a:prstGeom prst="rect">
            <a:avLst/>
          </a:prstGeom>
          <a:noFill/>
          <a:ln>
            <a:noFill/>
          </a:ln>
        </p:spPr>
      </p:pic>
      <p:sp>
        <p:nvSpPr>
          <p:cNvPr id="173" name="Google Shape;173;p16"/>
          <p:cNvSpPr txBox="1"/>
          <p:nvPr/>
        </p:nvSpPr>
        <p:spPr>
          <a:xfrm>
            <a:off x="666750" y="6210300"/>
            <a:ext cx="22098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ARCHITECTURE &amp; EXECUTION STACK</a:t>
            </a:r>
            <a:endParaRPr/>
          </a:p>
        </p:txBody>
      </p:sp>
      <p:sp>
        <p:nvSpPr>
          <p:cNvPr id="174" name="Google Shape;174;p16"/>
          <p:cNvSpPr txBox="1"/>
          <p:nvPr/>
        </p:nvSpPr>
        <p:spPr>
          <a:xfrm>
            <a:off x="6372225"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175" name="Google Shape;175;p16"/>
          <p:cNvSpPr txBox="1"/>
          <p:nvPr/>
        </p:nvSpPr>
        <p:spPr>
          <a:xfrm>
            <a:off x="866775" y="2119907"/>
            <a:ext cx="6300787"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Project Pipeline</a:t>
            </a:r>
            <a:endParaRPr/>
          </a:p>
        </p:txBody>
      </p:sp>
      <p:sp>
        <p:nvSpPr>
          <p:cNvPr id="176" name="Google Shape;176;p16"/>
          <p:cNvSpPr txBox="1"/>
          <p:nvPr/>
        </p:nvSpPr>
        <p:spPr>
          <a:xfrm>
            <a:off x="7458075" y="2119907"/>
            <a:ext cx="4060507"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Tech Stack</a:t>
            </a:r>
            <a:endParaRPr/>
          </a:p>
        </p:txBody>
      </p:sp>
      <p:pic>
        <p:nvPicPr>
          <p:cNvPr descr="image.png" id="177" name="Google Shape;177;p16"/>
          <p:cNvPicPr preferRelativeResize="0"/>
          <p:nvPr/>
        </p:nvPicPr>
        <p:blipFill rotWithShape="1">
          <a:blip r:embed="rId14">
            <a:alphaModFix/>
          </a:blip>
          <a:srcRect b="0" l="0" r="0" t="0"/>
          <a:stretch/>
        </p:blipFill>
        <p:spPr>
          <a:xfrm>
            <a:off x="866775" y="2158007"/>
            <a:ext cx="209550" cy="209550"/>
          </a:xfrm>
          <a:prstGeom prst="rect">
            <a:avLst/>
          </a:prstGeom>
          <a:noFill/>
          <a:ln>
            <a:noFill/>
          </a:ln>
        </p:spPr>
      </p:pic>
      <p:pic>
        <p:nvPicPr>
          <p:cNvPr descr="image.png" id="178" name="Google Shape;178;p16"/>
          <p:cNvPicPr preferRelativeResize="0"/>
          <p:nvPr/>
        </p:nvPicPr>
        <p:blipFill rotWithShape="1">
          <a:blip r:embed="rId15">
            <a:alphaModFix/>
          </a:blip>
          <a:srcRect b="0" l="0" r="0" t="0"/>
          <a:stretch/>
        </p:blipFill>
        <p:spPr>
          <a:xfrm>
            <a:off x="7458075" y="2158007"/>
            <a:ext cx="209550" cy="209550"/>
          </a:xfrm>
          <a:prstGeom prst="rect">
            <a:avLst/>
          </a:prstGeom>
          <a:noFill/>
          <a:ln>
            <a:noFill/>
          </a:ln>
        </p:spPr>
      </p:pic>
      <p:sp>
        <p:nvSpPr>
          <p:cNvPr id="179" name="Google Shape;179;p16"/>
          <p:cNvSpPr txBox="1"/>
          <p:nvPr/>
        </p:nvSpPr>
        <p:spPr>
          <a:xfrm>
            <a:off x="1047750" y="3167653"/>
            <a:ext cx="514500" cy="12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475569"/>
                </a:solidFill>
                <a:latin typeface="Inter"/>
                <a:ea typeface="Inter"/>
                <a:cs typeface="Inter"/>
                <a:sym typeface="Inter"/>
              </a:rPr>
              <a:t>Extract</a:t>
            </a:r>
            <a:endParaRPr/>
          </a:p>
        </p:txBody>
      </p:sp>
      <p:sp>
        <p:nvSpPr>
          <p:cNvPr id="180" name="Google Shape;180;p16"/>
          <p:cNvSpPr txBox="1"/>
          <p:nvPr/>
        </p:nvSpPr>
        <p:spPr>
          <a:xfrm>
            <a:off x="2288374" y="3167648"/>
            <a:ext cx="588300" cy="12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475569"/>
                </a:solidFill>
                <a:latin typeface="Inter"/>
                <a:ea typeface="Inter"/>
                <a:cs typeface="Inter"/>
                <a:sym typeface="Inter"/>
              </a:rPr>
              <a:t>Transform</a:t>
            </a:r>
            <a:endParaRPr/>
          </a:p>
        </p:txBody>
      </p:sp>
      <p:sp>
        <p:nvSpPr>
          <p:cNvPr id="181" name="Google Shape;181;p16"/>
          <p:cNvSpPr txBox="1"/>
          <p:nvPr/>
        </p:nvSpPr>
        <p:spPr>
          <a:xfrm>
            <a:off x="3657600" y="3167648"/>
            <a:ext cx="588300" cy="12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475569"/>
                </a:solidFill>
                <a:latin typeface="Inter"/>
                <a:ea typeface="Inter"/>
                <a:cs typeface="Inter"/>
                <a:sym typeface="Inter"/>
              </a:rPr>
              <a:t>Load DB</a:t>
            </a:r>
            <a:endParaRPr/>
          </a:p>
        </p:txBody>
      </p:sp>
      <p:sp>
        <p:nvSpPr>
          <p:cNvPr id="182" name="Google Shape;182;p16"/>
          <p:cNvSpPr txBox="1"/>
          <p:nvPr/>
        </p:nvSpPr>
        <p:spPr>
          <a:xfrm>
            <a:off x="4912518" y="3167657"/>
            <a:ext cx="552450"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475569"/>
                </a:solidFill>
                <a:latin typeface="Inter"/>
                <a:ea typeface="Inter"/>
                <a:cs typeface="Inter"/>
                <a:sym typeface="Inter"/>
              </a:rPr>
              <a:t>Query SQL</a:t>
            </a:r>
            <a:endParaRPr/>
          </a:p>
        </p:txBody>
      </p:sp>
      <p:sp>
        <p:nvSpPr>
          <p:cNvPr id="183" name="Google Shape;183;p16"/>
          <p:cNvSpPr txBox="1"/>
          <p:nvPr/>
        </p:nvSpPr>
        <p:spPr>
          <a:xfrm>
            <a:off x="6234101" y="3167651"/>
            <a:ext cx="552600" cy="12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25">
                <a:solidFill>
                  <a:srgbClr val="1E293B"/>
                </a:solidFill>
                <a:latin typeface="Inter"/>
                <a:ea typeface="Inter"/>
                <a:cs typeface="Inter"/>
                <a:sym typeface="Inter"/>
              </a:rPr>
              <a:t>Power</a:t>
            </a:r>
            <a:r>
              <a:rPr b="1" i="0" lang="en-US" sz="825" u="none" cap="none" strike="noStrike">
                <a:solidFill>
                  <a:srgbClr val="1E293B"/>
                </a:solidFill>
                <a:latin typeface="Inter"/>
                <a:ea typeface="Inter"/>
                <a:cs typeface="Inter"/>
                <a:sym typeface="Inter"/>
              </a:rPr>
              <a:t>BI</a:t>
            </a:r>
            <a:endParaRPr/>
          </a:p>
        </p:txBody>
      </p:sp>
      <p:sp>
        <p:nvSpPr>
          <p:cNvPr id="184" name="Google Shape;184;p16"/>
          <p:cNvSpPr txBox="1"/>
          <p:nvPr/>
        </p:nvSpPr>
        <p:spPr>
          <a:xfrm>
            <a:off x="1133475" y="3843932"/>
            <a:ext cx="268605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Raw data parsed natively in Python.</a:t>
            </a:r>
            <a:endParaRPr/>
          </a:p>
        </p:txBody>
      </p:sp>
      <p:sp>
        <p:nvSpPr>
          <p:cNvPr id="185" name="Google Shape;185;p16"/>
          <p:cNvSpPr txBox="1"/>
          <p:nvPr/>
        </p:nvSpPr>
        <p:spPr>
          <a:xfrm>
            <a:off x="4181475" y="3843932"/>
            <a:ext cx="268605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Strict structural cleaning (fixing nulls/types).</a:t>
            </a:r>
            <a:endParaRPr/>
          </a:p>
        </p:txBody>
      </p:sp>
      <p:sp>
        <p:nvSpPr>
          <p:cNvPr id="186" name="Google Shape;186;p16"/>
          <p:cNvSpPr txBox="1"/>
          <p:nvPr/>
        </p:nvSpPr>
        <p:spPr>
          <a:xfrm>
            <a:off x="1133475" y="4481512"/>
            <a:ext cx="268605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Relational mappings exported to SQLite file.</a:t>
            </a:r>
            <a:endParaRPr/>
          </a:p>
        </p:txBody>
      </p:sp>
      <p:sp>
        <p:nvSpPr>
          <p:cNvPr id="187" name="Google Shape;187;p16"/>
          <p:cNvSpPr txBox="1"/>
          <p:nvPr/>
        </p:nvSpPr>
        <p:spPr>
          <a:xfrm>
            <a:off x="4181475" y="4481512"/>
            <a:ext cx="268605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Power BI queries directly via native drivers.</a:t>
            </a:r>
            <a:endParaRPr/>
          </a:p>
        </p:txBody>
      </p:sp>
      <p:pic>
        <p:nvPicPr>
          <p:cNvPr descr="image.png" id="188" name="Google Shape;188;p16"/>
          <p:cNvPicPr preferRelativeResize="0"/>
          <p:nvPr/>
        </p:nvPicPr>
        <p:blipFill rotWithShape="1">
          <a:blip r:embed="rId16">
            <a:alphaModFix/>
          </a:blip>
          <a:srcRect b="0" l="0" r="0" t="0"/>
          <a:stretch/>
        </p:blipFill>
        <p:spPr>
          <a:xfrm>
            <a:off x="8296275" y="3709392"/>
            <a:ext cx="200025" cy="228600"/>
          </a:xfrm>
          <a:prstGeom prst="rect">
            <a:avLst/>
          </a:prstGeom>
          <a:noFill/>
          <a:ln>
            <a:noFill/>
          </a:ln>
        </p:spPr>
      </p:pic>
      <p:sp>
        <p:nvSpPr>
          <p:cNvPr id="189" name="Google Shape;189;p16"/>
          <p:cNvSpPr txBox="1"/>
          <p:nvPr/>
        </p:nvSpPr>
        <p:spPr>
          <a:xfrm>
            <a:off x="7572375" y="3995142"/>
            <a:ext cx="1647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1E3A8A"/>
                </a:solidFill>
                <a:latin typeface="Inter"/>
                <a:ea typeface="Inter"/>
                <a:cs typeface="Inter"/>
                <a:sym typeface="Inter"/>
              </a:rPr>
              <a:t>Python / Pandas</a:t>
            </a:r>
            <a:endParaRPr/>
          </a:p>
        </p:txBody>
      </p:sp>
      <p:pic>
        <p:nvPicPr>
          <p:cNvPr descr="image.png" id="190" name="Google Shape;190;p16"/>
          <p:cNvPicPr preferRelativeResize="0"/>
          <p:nvPr/>
        </p:nvPicPr>
        <p:blipFill rotWithShape="1">
          <a:blip r:embed="rId17">
            <a:alphaModFix/>
          </a:blip>
          <a:srcRect b="0" l="0" r="0" t="0"/>
          <a:stretch/>
        </p:blipFill>
        <p:spPr>
          <a:xfrm>
            <a:off x="10287000" y="3709392"/>
            <a:ext cx="200025" cy="228600"/>
          </a:xfrm>
          <a:prstGeom prst="rect">
            <a:avLst/>
          </a:prstGeom>
          <a:noFill/>
          <a:ln>
            <a:noFill/>
          </a:ln>
        </p:spPr>
      </p:pic>
      <p:sp>
        <p:nvSpPr>
          <p:cNvPr id="191" name="Google Shape;191;p16"/>
          <p:cNvSpPr txBox="1"/>
          <p:nvPr/>
        </p:nvSpPr>
        <p:spPr>
          <a:xfrm>
            <a:off x="9563100" y="3995142"/>
            <a:ext cx="1647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65F46"/>
                </a:solidFill>
                <a:latin typeface="Inter"/>
                <a:ea typeface="Inter"/>
                <a:cs typeface="Inter"/>
                <a:sym typeface="Inter"/>
              </a:rPr>
              <a:t>SQLite Database</a:t>
            </a:r>
            <a:endParaRPr/>
          </a:p>
        </p:txBody>
      </p:sp>
      <p:pic>
        <p:nvPicPr>
          <p:cNvPr descr="image.png" id="192" name="Google Shape;192;p16"/>
          <p:cNvPicPr preferRelativeResize="0"/>
          <p:nvPr/>
        </p:nvPicPr>
        <p:blipFill rotWithShape="1">
          <a:blip r:embed="rId18">
            <a:alphaModFix/>
          </a:blip>
          <a:srcRect b="0" l="0" r="0" t="0"/>
          <a:stretch/>
        </p:blipFill>
        <p:spPr>
          <a:xfrm>
            <a:off x="8267700" y="4480917"/>
            <a:ext cx="257175" cy="228600"/>
          </a:xfrm>
          <a:prstGeom prst="rect">
            <a:avLst/>
          </a:prstGeom>
          <a:noFill/>
          <a:ln>
            <a:noFill/>
          </a:ln>
        </p:spPr>
      </p:pic>
      <p:sp>
        <p:nvSpPr>
          <p:cNvPr id="193" name="Google Shape;193;p16"/>
          <p:cNvSpPr txBox="1"/>
          <p:nvPr/>
        </p:nvSpPr>
        <p:spPr>
          <a:xfrm>
            <a:off x="7572375" y="4766667"/>
            <a:ext cx="1647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78350F"/>
                </a:solidFill>
                <a:latin typeface="Inter"/>
                <a:ea typeface="Inter"/>
                <a:cs typeface="Inter"/>
                <a:sym typeface="Inter"/>
              </a:rPr>
              <a:t>Power BI</a:t>
            </a:r>
            <a:endParaRPr/>
          </a:p>
        </p:txBody>
      </p:sp>
      <p:pic>
        <p:nvPicPr>
          <p:cNvPr descr="image.png" id="194" name="Google Shape;194;p16"/>
          <p:cNvPicPr preferRelativeResize="0"/>
          <p:nvPr/>
        </p:nvPicPr>
        <p:blipFill rotWithShape="1">
          <a:blip r:embed="rId19">
            <a:alphaModFix/>
          </a:blip>
          <a:srcRect b="0" l="0" r="0" t="0"/>
          <a:stretch/>
        </p:blipFill>
        <p:spPr>
          <a:xfrm>
            <a:off x="10244137" y="4480917"/>
            <a:ext cx="285750" cy="228600"/>
          </a:xfrm>
          <a:prstGeom prst="rect">
            <a:avLst/>
          </a:prstGeom>
          <a:noFill/>
          <a:ln>
            <a:noFill/>
          </a:ln>
        </p:spPr>
      </p:pic>
      <p:sp>
        <p:nvSpPr>
          <p:cNvPr id="195" name="Google Shape;195;p16"/>
          <p:cNvSpPr txBox="1"/>
          <p:nvPr/>
        </p:nvSpPr>
        <p:spPr>
          <a:xfrm>
            <a:off x="9563100" y="4766667"/>
            <a:ext cx="1647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581C87"/>
                </a:solidFill>
                <a:latin typeface="Inter"/>
                <a:ea typeface="Inter"/>
                <a:cs typeface="Inter"/>
                <a:sym typeface="Inter"/>
              </a:rPr>
              <a:t>SQL Queries</a:t>
            </a:r>
            <a:endParaRPr/>
          </a:p>
        </p:txBody>
      </p:sp>
      <p:pic>
        <p:nvPicPr>
          <p:cNvPr descr="image.png" id="196" name="Google Shape;196;p16"/>
          <p:cNvPicPr preferRelativeResize="0"/>
          <p:nvPr/>
        </p:nvPicPr>
        <p:blipFill rotWithShape="1">
          <a:blip r:embed="rId20">
            <a:alphaModFix/>
          </a:blip>
          <a:srcRect b="0" l="0" r="0" t="0"/>
          <a:stretch/>
        </p:blipFill>
        <p:spPr>
          <a:xfrm>
            <a:off x="866775" y="3872507"/>
            <a:ext cx="76200" cy="152400"/>
          </a:xfrm>
          <a:prstGeom prst="rect">
            <a:avLst/>
          </a:prstGeom>
          <a:noFill/>
          <a:ln>
            <a:noFill/>
          </a:ln>
        </p:spPr>
      </p:pic>
      <p:pic>
        <p:nvPicPr>
          <p:cNvPr descr="image.png" id="197" name="Google Shape;197;p16"/>
          <p:cNvPicPr preferRelativeResize="0"/>
          <p:nvPr/>
        </p:nvPicPr>
        <p:blipFill rotWithShape="1">
          <a:blip r:embed="rId20">
            <a:alphaModFix/>
          </a:blip>
          <a:srcRect b="0" l="0" r="0" t="0"/>
          <a:stretch/>
        </p:blipFill>
        <p:spPr>
          <a:xfrm>
            <a:off x="3914775" y="3872507"/>
            <a:ext cx="76200" cy="152400"/>
          </a:xfrm>
          <a:prstGeom prst="rect">
            <a:avLst/>
          </a:prstGeom>
          <a:noFill/>
          <a:ln>
            <a:noFill/>
          </a:ln>
        </p:spPr>
      </p:pic>
      <p:pic>
        <p:nvPicPr>
          <p:cNvPr descr="image.png" id="198" name="Google Shape;198;p16"/>
          <p:cNvPicPr preferRelativeResize="0"/>
          <p:nvPr/>
        </p:nvPicPr>
        <p:blipFill rotWithShape="1">
          <a:blip r:embed="rId20">
            <a:alphaModFix/>
          </a:blip>
          <a:srcRect b="0" l="0" r="0" t="0"/>
          <a:stretch/>
        </p:blipFill>
        <p:spPr>
          <a:xfrm>
            <a:off x="866775" y="4510087"/>
            <a:ext cx="76200" cy="152400"/>
          </a:xfrm>
          <a:prstGeom prst="rect">
            <a:avLst/>
          </a:prstGeom>
          <a:noFill/>
          <a:ln>
            <a:noFill/>
          </a:ln>
        </p:spPr>
      </p:pic>
      <p:pic>
        <p:nvPicPr>
          <p:cNvPr descr="image.png" id="199" name="Google Shape;199;p16"/>
          <p:cNvPicPr preferRelativeResize="0"/>
          <p:nvPr/>
        </p:nvPicPr>
        <p:blipFill rotWithShape="1">
          <a:blip r:embed="rId20">
            <a:alphaModFix/>
          </a:blip>
          <a:srcRect b="0" l="0" r="0" t="0"/>
          <a:stretch/>
        </p:blipFill>
        <p:spPr>
          <a:xfrm>
            <a:off x="3914775" y="4510087"/>
            <a:ext cx="76200" cy="152400"/>
          </a:xfrm>
          <a:prstGeom prst="rect">
            <a:avLst/>
          </a:prstGeom>
          <a:noFill/>
          <a:ln>
            <a:noFill/>
          </a:ln>
        </p:spPr>
      </p:pic>
      <p:sp>
        <p:nvSpPr>
          <p:cNvPr id="200" name="Google Shape;200;p16"/>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System Architecture &amp; Workflow</a:t>
            </a:r>
            <a:endParaRPr/>
          </a:p>
        </p:txBody>
      </p:sp>
      <p:sp>
        <p:nvSpPr>
          <p:cNvPr id="201" name="Google Shape;201;p16"/>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16"/>
          <p:cNvSpPr/>
          <p:nvPr/>
        </p:nvSpPr>
        <p:spPr>
          <a:xfrm>
            <a:off x="1152525" y="2834282"/>
            <a:ext cx="5429250" cy="1905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image.png" id="207" name="Google Shape;207;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8" name="Google Shape;208;p17"/>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209" name="Google Shape;209;p17"/>
          <p:cNvPicPr preferRelativeResize="0"/>
          <p:nvPr/>
        </p:nvPicPr>
        <p:blipFill rotWithShape="1">
          <a:blip r:embed="rId5">
            <a:alphaModFix/>
          </a:blip>
          <a:srcRect b="0" l="0" r="0" t="0"/>
          <a:stretch/>
        </p:blipFill>
        <p:spPr>
          <a:xfrm>
            <a:off x="666750" y="1224150"/>
            <a:ext cx="5238750" cy="4795650"/>
          </a:xfrm>
          <a:prstGeom prst="rect">
            <a:avLst/>
          </a:prstGeom>
          <a:noFill/>
          <a:ln>
            <a:noFill/>
          </a:ln>
        </p:spPr>
      </p:pic>
      <p:pic>
        <p:nvPicPr>
          <p:cNvPr descr="image.png" id="210" name="Google Shape;210;p17"/>
          <p:cNvPicPr preferRelativeResize="0"/>
          <p:nvPr/>
        </p:nvPicPr>
        <p:blipFill rotWithShape="1">
          <a:blip r:embed="rId6">
            <a:alphaModFix/>
          </a:blip>
          <a:srcRect b="0" l="0" r="0" t="0"/>
          <a:stretch/>
        </p:blipFill>
        <p:spPr>
          <a:xfrm>
            <a:off x="6286500" y="2190750"/>
            <a:ext cx="5238750" cy="2467413"/>
          </a:xfrm>
          <a:prstGeom prst="rect">
            <a:avLst/>
          </a:prstGeom>
          <a:noFill/>
          <a:ln>
            <a:noFill/>
          </a:ln>
        </p:spPr>
      </p:pic>
      <p:pic>
        <p:nvPicPr>
          <p:cNvPr descr="image.png" id="211" name="Google Shape;211;p17"/>
          <p:cNvPicPr preferRelativeResize="0"/>
          <p:nvPr/>
        </p:nvPicPr>
        <p:blipFill rotWithShape="1">
          <a:blip r:embed="rId7">
            <a:alphaModFix/>
          </a:blip>
          <a:srcRect b="0" l="0" r="0" t="0"/>
          <a:stretch/>
        </p:blipFill>
        <p:spPr>
          <a:xfrm>
            <a:off x="904800" y="5772150"/>
            <a:ext cx="4762500" cy="247650"/>
          </a:xfrm>
          <a:prstGeom prst="rect">
            <a:avLst/>
          </a:prstGeom>
          <a:noFill/>
          <a:ln>
            <a:noFill/>
          </a:ln>
        </p:spPr>
      </p:pic>
      <p:pic>
        <p:nvPicPr>
          <p:cNvPr descr="image.png" id="212" name="Google Shape;212;p17"/>
          <p:cNvPicPr preferRelativeResize="0"/>
          <p:nvPr/>
        </p:nvPicPr>
        <p:blipFill rotWithShape="1">
          <a:blip r:embed="rId8">
            <a:alphaModFix/>
          </a:blip>
          <a:srcRect b="0" l="0" r="0" t="0"/>
          <a:stretch/>
        </p:blipFill>
        <p:spPr>
          <a:xfrm>
            <a:off x="666750" y="6019800"/>
            <a:ext cx="10858500" cy="361950"/>
          </a:xfrm>
          <a:prstGeom prst="rect">
            <a:avLst/>
          </a:prstGeom>
          <a:noFill/>
          <a:ln>
            <a:noFill/>
          </a:ln>
        </p:spPr>
      </p:pic>
      <p:sp>
        <p:nvSpPr>
          <p:cNvPr id="213" name="Google Shape;213;p17"/>
          <p:cNvSpPr txBox="1"/>
          <p:nvPr/>
        </p:nvSpPr>
        <p:spPr>
          <a:xfrm>
            <a:off x="666750" y="6210300"/>
            <a:ext cx="27336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EXPLORATORY DATA ANALYSIS - VALUATIONS</a:t>
            </a:r>
            <a:endParaRPr/>
          </a:p>
        </p:txBody>
      </p:sp>
      <p:sp>
        <p:nvSpPr>
          <p:cNvPr id="214" name="Google Shape;214;p17"/>
          <p:cNvSpPr txBox="1"/>
          <p:nvPr/>
        </p:nvSpPr>
        <p:spPr>
          <a:xfrm>
            <a:off x="6634162"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215" name="Google Shape;215;p17"/>
          <p:cNvSpPr txBox="1"/>
          <p:nvPr/>
        </p:nvSpPr>
        <p:spPr>
          <a:xfrm>
            <a:off x="6524625" y="2460873"/>
            <a:ext cx="5000625"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Exploratory Insights</a:t>
            </a:r>
            <a:endParaRPr/>
          </a:p>
        </p:txBody>
      </p:sp>
      <p:sp>
        <p:nvSpPr>
          <p:cNvPr id="216" name="Google Shape;216;p17"/>
          <p:cNvSpPr txBox="1"/>
          <p:nvPr/>
        </p:nvSpPr>
        <p:spPr>
          <a:xfrm>
            <a:off x="904800" y="5876925"/>
            <a:ext cx="17337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64748B"/>
                </a:solidFill>
                <a:latin typeface="Inter SemiBold"/>
                <a:ea typeface="Inter SemiBold"/>
                <a:cs typeface="Inter SemiBold"/>
                <a:sym typeface="Inter SemiBold"/>
              </a:rPr>
              <a:t>Data Period: 2021 - 2026</a:t>
            </a:r>
            <a:endParaRPr/>
          </a:p>
        </p:txBody>
      </p:sp>
      <p:pic>
        <p:nvPicPr>
          <p:cNvPr descr="image.png" id="217" name="Google Shape;217;p17"/>
          <p:cNvPicPr preferRelativeResize="0"/>
          <p:nvPr/>
        </p:nvPicPr>
        <p:blipFill rotWithShape="1">
          <a:blip r:embed="rId9">
            <a:alphaModFix/>
          </a:blip>
          <a:srcRect b="0" l="0" r="0" t="0"/>
          <a:stretch/>
        </p:blipFill>
        <p:spPr>
          <a:xfrm>
            <a:off x="6524625" y="2498973"/>
            <a:ext cx="209550" cy="209550"/>
          </a:xfrm>
          <a:prstGeom prst="rect">
            <a:avLst/>
          </a:prstGeom>
          <a:noFill/>
          <a:ln>
            <a:noFill/>
          </a:ln>
        </p:spPr>
      </p:pic>
      <p:sp>
        <p:nvSpPr>
          <p:cNvPr id="218" name="Google Shape;218;p17"/>
          <p:cNvSpPr txBox="1"/>
          <p:nvPr/>
        </p:nvSpPr>
        <p:spPr>
          <a:xfrm>
            <a:off x="6791325" y="2841873"/>
            <a:ext cx="4495800" cy="64204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NAV Progression:</a:t>
            </a:r>
            <a:r>
              <a:rPr b="0" i="0" lang="en-US" sz="1162" u="none" cap="none" strike="noStrike">
                <a:solidFill>
                  <a:srgbClr val="475569"/>
                </a:solidFill>
                <a:latin typeface="Inter"/>
                <a:ea typeface="Inter"/>
                <a:cs typeface="Inter"/>
                <a:sym typeface="Inter"/>
              </a:rPr>
              <a:t> Historical daily NAV tracks consistent structural compounding, mirroring standard secular macro bull cycles.</a:t>
            </a:r>
            <a:endParaRPr/>
          </a:p>
        </p:txBody>
      </p:sp>
      <p:sp>
        <p:nvSpPr>
          <p:cNvPr id="219" name="Google Shape;219;p17"/>
          <p:cNvSpPr txBox="1"/>
          <p:nvPr/>
        </p:nvSpPr>
        <p:spPr>
          <a:xfrm>
            <a:off x="6791325" y="3598217"/>
            <a:ext cx="449580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AUM Inflows:</a:t>
            </a:r>
            <a:r>
              <a:rPr b="0" i="0" lang="en-US" sz="1162" u="none" cap="none" strike="noStrike">
                <a:solidFill>
                  <a:srgbClr val="475569"/>
                </a:solidFill>
                <a:latin typeface="Inter"/>
                <a:ea typeface="Inter"/>
                <a:cs typeface="Inter"/>
                <a:sym typeface="Inter"/>
              </a:rPr>
              <a:t> Sharp capital inflow uptick observed specifically across passive mutual fund vehicles.</a:t>
            </a:r>
            <a:endParaRPr/>
          </a:p>
        </p:txBody>
      </p:sp>
      <p:sp>
        <p:nvSpPr>
          <p:cNvPr id="220" name="Google Shape;220;p17"/>
          <p:cNvSpPr txBox="1"/>
          <p:nvPr/>
        </p:nvSpPr>
        <p:spPr>
          <a:xfrm>
            <a:off x="6791325" y="4140547"/>
            <a:ext cx="44958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Large-cap funds attracted higher investments .</a:t>
            </a:r>
            <a:endParaRPr/>
          </a:p>
        </p:txBody>
      </p:sp>
      <p:pic>
        <p:nvPicPr>
          <p:cNvPr descr="image.png" id="221" name="Google Shape;221;p17"/>
          <p:cNvPicPr preferRelativeResize="0"/>
          <p:nvPr/>
        </p:nvPicPr>
        <p:blipFill rotWithShape="1">
          <a:blip r:embed="rId10">
            <a:alphaModFix/>
          </a:blip>
          <a:srcRect b="0" l="0" r="0" t="0"/>
          <a:stretch/>
        </p:blipFill>
        <p:spPr>
          <a:xfrm>
            <a:off x="6524625" y="2870448"/>
            <a:ext cx="95250" cy="152400"/>
          </a:xfrm>
          <a:prstGeom prst="rect">
            <a:avLst/>
          </a:prstGeom>
          <a:noFill/>
          <a:ln>
            <a:noFill/>
          </a:ln>
        </p:spPr>
      </p:pic>
      <p:pic>
        <p:nvPicPr>
          <p:cNvPr descr="image.png" id="222" name="Google Shape;222;p17"/>
          <p:cNvPicPr preferRelativeResize="0"/>
          <p:nvPr/>
        </p:nvPicPr>
        <p:blipFill rotWithShape="1">
          <a:blip r:embed="rId10">
            <a:alphaModFix/>
          </a:blip>
          <a:srcRect b="0" l="0" r="0" t="0"/>
          <a:stretch/>
        </p:blipFill>
        <p:spPr>
          <a:xfrm>
            <a:off x="6524625" y="3626792"/>
            <a:ext cx="95250" cy="152400"/>
          </a:xfrm>
          <a:prstGeom prst="rect">
            <a:avLst/>
          </a:prstGeom>
          <a:noFill/>
          <a:ln>
            <a:noFill/>
          </a:ln>
        </p:spPr>
      </p:pic>
      <p:pic>
        <p:nvPicPr>
          <p:cNvPr descr="image.png" id="223" name="Google Shape;223;p17"/>
          <p:cNvPicPr preferRelativeResize="0"/>
          <p:nvPr/>
        </p:nvPicPr>
        <p:blipFill rotWithShape="1">
          <a:blip r:embed="rId10">
            <a:alphaModFix/>
          </a:blip>
          <a:srcRect b="0" l="0" r="0" t="0"/>
          <a:stretch/>
        </p:blipFill>
        <p:spPr>
          <a:xfrm>
            <a:off x="6524625" y="4169122"/>
            <a:ext cx="95250" cy="152400"/>
          </a:xfrm>
          <a:prstGeom prst="rect">
            <a:avLst/>
          </a:prstGeom>
          <a:noFill/>
          <a:ln>
            <a:noFill/>
          </a:ln>
        </p:spPr>
      </p:pic>
      <p:sp>
        <p:nvSpPr>
          <p:cNvPr id="224" name="Google Shape;224;p17"/>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EDA Highlights: NAV &amp; AUM Growth</a:t>
            </a:r>
            <a:endParaRPr/>
          </a:p>
        </p:txBody>
      </p:sp>
      <p:sp>
        <p:nvSpPr>
          <p:cNvPr id="225" name="Google Shape;225;p17"/>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26" name="Google Shape;226;p17"/>
          <p:cNvPicPr preferRelativeResize="0"/>
          <p:nvPr/>
        </p:nvPicPr>
        <p:blipFill>
          <a:blip r:embed="rId11">
            <a:alphaModFix/>
          </a:blip>
          <a:stretch>
            <a:fillRect/>
          </a:stretch>
        </p:blipFill>
        <p:spPr>
          <a:xfrm>
            <a:off x="1425732" y="1516425"/>
            <a:ext cx="3422500" cy="1955225"/>
          </a:xfrm>
          <a:prstGeom prst="rect">
            <a:avLst/>
          </a:prstGeom>
          <a:noFill/>
          <a:ln>
            <a:noFill/>
          </a:ln>
        </p:spPr>
      </p:pic>
      <p:pic>
        <p:nvPicPr>
          <p:cNvPr id="227" name="Google Shape;227;p17"/>
          <p:cNvPicPr preferRelativeResize="0"/>
          <p:nvPr/>
        </p:nvPicPr>
        <p:blipFill>
          <a:blip r:embed="rId12">
            <a:alphaModFix/>
          </a:blip>
          <a:stretch>
            <a:fillRect/>
          </a:stretch>
        </p:blipFill>
        <p:spPr>
          <a:xfrm>
            <a:off x="1425726" y="3696663"/>
            <a:ext cx="3422500" cy="19552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pic>
        <p:nvPicPr>
          <p:cNvPr descr="image.png" id="232" name="Google Shape;232;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3" name="Google Shape;233;p18"/>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234" name="Google Shape;234;p18"/>
          <p:cNvPicPr preferRelativeResize="0"/>
          <p:nvPr/>
        </p:nvPicPr>
        <p:blipFill rotWithShape="1">
          <a:blip r:embed="rId5">
            <a:alphaModFix/>
          </a:blip>
          <a:srcRect b="0" l="0" r="0" t="0"/>
          <a:stretch/>
        </p:blipFill>
        <p:spPr>
          <a:xfrm>
            <a:off x="6286500" y="2190750"/>
            <a:ext cx="5238750" cy="2762250"/>
          </a:xfrm>
          <a:prstGeom prst="rect">
            <a:avLst/>
          </a:prstGeom>
          <a:noFill/>
          <a:ln>
            <a:noFill/>
          </a:ln>
        </p:spPr>
      </p:pic>
      <p:pic>
        <p:nvPicPr>
          <p:cNvPr descr="image.png" id="235" name="Google Shape;235;p18"/>
          <p:cNvPicPr preferRelativeResize="0"/>
          <p:nvPr/>
        </p:nvPicPr>
        <p:blipFill rotWithShape="1">
          <a:blip r:embed="rId6">
            <a:alphaModFix/>
          </a:blip>
          <a:srcRect b="0" l="0" r="0" t="0"/>
          <a:stretch/>
        </p:blipFill>
        <p:spPr>
          <a:xfrm>
            <a:off x="666750" y="6019800"/>
            <a:ext cx="10858500" cy="361950"/>
          </a:xfrm>
          <a:prstGeom prst="rect">
            <a:avLst/>
          </a:prstGeom>
          <a:noFill/>
          <a:ln>
            <a:noFill/>
          </a:ln>
        </p:spPr>
      </p:pic>
      <p:sp>
        <p:nvSpPr>
          <p:cNvPr id="236" name="Google Shape;236;p18"/>
          <p:cNvSpPr txBox="1"/>
          <p:nvPr/>
        </p:nvSpPr>
        <p:spPr>
          <a:xfrm>
            <a:off x="666750" y="6210300"/>
            <a:ext cx="28098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EXPLORATORY DATA ANALYSIS - ALLOCATIONS</a:t>
            </a:r>
            <a:endParaRPr/>
          </a:p>
        </p:txBody>
      </p:sp>
      <p:sp>
        <p:nvSpPr>
          <p:cNvPr id="237" name="Google Shape;237;p18"/>
          <p:cNvSpPr txBox="1"/>
          <p:nvPr/>
        </p:nvSpPr>
        <p:spPr>
          <a:xfrm>
            <a:off x="6672262"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238" name="Google Shape;238;p18"/>
          <p:cNvSpPr txBox="1"/>
          <p:nvPr/>
        </p:nvSpPr>
        <p:spPr>
          <a:xfrm>
            <a:off x="666750" y="1936650"/>
            <a:ext cx="5000700" cy="2541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SIP &amp; Sector Allocation</a:t>
            </a:r>
            <a:endParaRPr/>
          </a:p>
        </p:txBody>
      </p:sp>
      <p:sp>
        <p:nvSpPr>
          <p:cNvPr id="239" name="Google Shape;239;p18"/>
          <p:cNvSpPr txBox="1"/>
          <p:nvPr/>
        </p:nvSpPr>
        <p:spPr>
          <a:xfrm>
            <a:off x="6524625" y="2460873"/>
            <a:ext cx="5000625" cy="266700"/>
          </a:xfrm>
          <a:prstGeom prst="rect">
            <a:avLst/>
          </a:prstGeom>
          <a:noFill/>
          <a:ln>
            <a:noFill/>
          </a:ln>
        </p:spPr>
        <p:txBody>
          <a:bodyPr anchorCtr="0" anchor="t" bIns="0" lIns="314325"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Inflow Trends</a:t>
            </a:r>
            <a:endParaRPr/>
          </a:p>
        </p:txBody>
      </p:sp>
      <p:pic>
        <p:nvPicPr>
          <p:cNvPr descr="image.png" id="240" name="Google Shape;240;p18"/>
          <p:cNvPicPr preferRelativeResize="0"/>
          <p:nvPr/>
        </p:nvPicPr>
        <p:blipFill rotWithShape="1">
          <a:blip r:embed="rId7">
            <a:alphaModFix/>
          </a:blip>
          <a:srcRect b="0" l="0" r="0" t="0"/>
          <a:stretch/>
        </p:blipFill>
        <p:spPr>
          <a:xfrm>
            <a:off x="666750" y="1974750"/>
            <a:ext cx="266700" cy="209550"/>
          </a:xfrm>
          <a:prstGeom prst="rect">
            <a:avLst/>
          </a:prstGeom>
          <a:noFill/>
          <a:ln>
            <a:noFill/>
          </a:ln>
        </p:spPr>
      </p:pic>
      <p:pic>
        <p:nvPicPr>
          <p:cNvPr descr="image.png" id="241" name="Google Shape;241;p18"/>
          <p:cNvPicPr preferRelativeResize="0"/>
          <p:nvPr/>
        </p:nvPicPr>
        <p:blipFill rotWithShape="1">
          <a:blip r:embed="rId8">
            <a:alphaModFix/>
          </a:blip>
          <a:srcRect b="0" l="0" r="0" t="0"/>
          <a:stretch/>
        </p:blipFill>
        <p:spPr>
          <a:xfrm>
            <a:off x="6524625" y="2498973"/>
            <a:ext cx="238125" cy="209550"/>
          </a:xfrm>
          <a:prstGeom prst="rect">
            <a:avLst/>
          </a:prstGeom>
          <a:noFill/>
          <a:ln>
            <a:noFill/>
          </a:ln>
        </p:spPr>
      </p:pic>
      <p:sp>
        <p:nvSpPr>
          <p:cNvPr id="242" name="Google Shape;242;p18"/>
          <p:cNvSpPr txBox="1"/>
          <p:nvPr/>
        </p:nvSpPr>
        <p:spPr>
          <a:xfrm>
            <a:off x="6791325" y="2841873"/>
            <a:ext cx="4495800" cy="428029"/>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SIP Participation:</a:t>
            </a:r>
            <a:r>
              <a:rPr b="0" i="0" lang="en-US" sz="1162" u="none" cap="none" strike="noStrike">
                <a:solidFill>
                  <a:srgbClr val="475569"/>
                </a:solidFill>
                <a:latin typeface="Inter"/>
                <a:ea typeface="Inter"/>
                <a:cs typeface="Inter"/>
                <a:sym typeface="Inter"/>
              </a:rPr>
              <a:t> Multi-year incremental step up, showing stable long-term systematic retail participation.</a:t>
            </a:r>
            <a:endParaRPr/>
          </a:p>
        </p:txBody>
      </p:sp>
      <p:sp>
        <p:nvSpPr>
          <p:cNvPr id="243" name="Google Shape;243;p18"/>
          <p:cNvSpPr txBox="1"/>
          <p:nvPr/>
        </p:nvSpPr>
        <p:spPr>
          <a:xfrm>
            <a:off x="6791325" y="3384202"/>
            <a:ext cx="4495800" cy="64204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Category Inflows:</a:t>
            </a:r>
            <a:r>
              <a:rPr b="0" i="0" lang="en-US" sz="1162" u="none" cap="none" strike="noStrike">
                <a:solidFill>
                  <a:srgbClr val="475569"/>
                </a:solidFill>
                <a:latin typeface="Inter"/>
                <a:ea typeface="Inter"/>
                <a:cs typeface="Inter"/>
                <a:sym typeface="Inter"/>
              </a:rPr>
              <a:t> Active Equity, Sectoral, and thematic categories attract significantly larger relative flows than standard fixed-income tables.</a:t>
            </a:r>
            <a:endParaRPr/>
          </a:p>
        </p:txBody>
      </p:sp>
      <p:sp>
        <p:nvSpPr>
          <p:cNvPr id="244" name="Google Shape;244;p18"/>
          <p:cNvSpPr txBox="1"/>
          <p:nvPr/>
        </p:nvSpPr>
        <p:spPr>
          <a:xfrm>
            <a:off x="6791325" y="4140547"/>
            <a:ext cx="4495800" cy="9570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 </a:t>
            </a:r>
            <a:r>
              <a:rPr lang="en-US" sz="1162">
                <a:solidFill>
                  <a:srgbClr val="475569"/>
                </a:solidFill>
                <a:latin typeface="Inter"/>
                <a:ea typeface="Inter"/>
                <a:cs typeface="Inter"/>
                <a:sym typeface="Inter"/>
              </a:rPr>
              <a:t>SIP investments increased steadily</a:t>
            </a:r>
            <a:endParaRPr sz="1162">
              <a:solidFill>
                <a:srgbClr val="475569"/>
              </a:solidFill>
              <a:latin typeface="Inter"/>
              <a:ea typeface="Inter"/>
              <a:cs typeface="Inter"/>
              <a:sym typeface="Inter"/>
            </a:endParaRPr>
          </a:p>
          <a:p>
            <a:pPr indent="0" lvl="0" marL="0" rtl="0" algn="l">
              <a:lnSpc>
                <a:spcPct val="145008"/>
              </a:lnSpc>
              <a:spcBef>
                <a:spcPts val="0"/>
              </a:spcBef>
              <a:spcAft>
                <a:spcPts val="0"/>
              </a:spcAft>
              <a:buClr>
                <a:schemeClr val="dk1"/>
              </a:buClr>
              <a:buSzPts val="1100"/>
              <a:buFont typeface="Arial"/>
              <a:buNone/>
            </a:pPr>
            <a:r>
              <a:rPr lang="en-US" sz="1162">
                <a:solidFill>
                  <a:srgbClr val="475569"/>
                </a:solidFill>
                <a:latin typeface="Inter"/>
                <a:ea typeface="Inter"/>
                <a:cs typeface="Inter"/>
                <a:sym typeface="Inter"/>
              </a:rPr>
              <a:t> Equity funds received higher inflows</a:t>
            </a:r>
            <a:endParaRPr sz="1162">
              <a:solidFill>
                <a:srgbClr val="475569"/>
              </a:solidFill>
              <a:latin typeface="Inter"/>
              <a:ea typeface="Inter"/>
              <a:cs typeface="Inter"/>
              <a:sym typeface="Inter"/>
            </a:endParaRPr>
          </a:p>
          <a:p>
            <a:pPr indent="0" lvl="0" marL="0" rtl="0" algn="l">
              <a:lnSpc>
                <a:spcPct val="145008"/>
              </a:lnSpc>
              <a:spcBef>
                <a:spcPts val="0"/>
              </a:spcBef>
              <a:spcAft>
                <a:spcPts val="0"/>
              </a:spcAft>
              <a:buClr>
                <a:schemeClr val="dk1"/>
              </a:buClr>
              <a:buSzPts val="1100"/>
              <a:buFont typeface="Arial"/>
              <a:buNone/>
            </a:pPr>
            <a:r>
              <a:rPr lang="en-US" sz="1162">
                <a:solidFill>
                  <a:srgbClr val="475569"/>
                </a:solidFill>
                <a:latin typeface="Inter"/>
                <a:ea typeface="Inter"/>
                <a:cs typeface="Inter"/>
                <a:sym typeface="Inter"/>
              </a:rPr>
              <a:t> Diversified sector allocation observed</a:t>
            </a:r>
            <a:endParaRPr sz="1162">
              <a:solidFill>
                <a:srgbClr val="475569"/>
              </a:solidFill>
              <a:latin typeface="Inter"/>
              <a:ea typeface="Inter"/>
              <a:cs typeface="Inter"/>
              <a:sym typeface="Inter"/>
            </a:endParaRPr>
          </a:p>
          <a:p>
            <a:pPr indent="0" lvl="0" marL="0" marR="0" rtl="0" algn="l">
              <a:lnSpc>
                <a:spcPct val="145008"/>
              </a:lnSpc>
              <a:spcBef>
                <a:spcPts val="0"/>
              </a:spcBef>
              <a:spcAft>
                <a:spcPts val="0"/>
              </a:spcAft>
              <a:buNone/>
            </a:pPr>
            <a:r>
              <a:t/>
            </a:r>
            <a:endParaRPr sz="1162">
              <a:solidFill>
                <a:srgbClr val="475569"/>
              </a:solidFill>
              <a:latin typeface="Inter"/>
              <a:ea typeface="Inter"/>
              <a:cs typeface="Inter"/>
              <a:sym typeface="Inter"/>
            </a:endParaRPr>
          </a:p>
        </p:txBody>
      </p:sp>
      <p:pic>
        <p:nvPicPr>
          <p:cNvPr descr="image.png" id="245" name="Google Shape;245;p18"/>
          <p:cNvPicPr preferRelativeResize="0"/>
          <p:nvPr/>
        </p:nvPicPr>
        <p:blipFill rotWithShape="1">
          <a:blip r:embed="rId9">
            <a:alphaModFix/>
          </a:blip>
          <a:srcRect b="0" l="0" r="0" t="0"/>
          <a:stretch/>
        </p:blipFill>
        <p:spPr>
          <a:xfrm>
            <a:off x="6524625" y="2870448"/>
            <a:ext cx="152400" cy="152400"/>
          </a:xfrm>
          <a:prstGeom prst="rect">
            <a:avLst/>
          </a:prstGeom>
          <a:noFill/>
          <a:ln>
            <a:noFill/>
          </a:ln>
        </p:spPr>
      </p:pic>
      <p:pic>
        <p:nvPicPr>
          <p:cNvPr descr="image.png" id="246" name="Google Shape;246;p18"/>
          <p:cNvPicPr preferRelativeResize="0"/>
          <p:nvPr/>
        </p:nvPicPr>
        <p:blipFill rotWithShape="1">
          <a:blip r:embed="rId9">
            <a:alphaModFix/>
          </a:blip>
          <a:srcRect b="0" l="0" r="0" t="0"/>
          <a:stretch/>
        </p:blipFill>
        <p:spPr>
          <a:xfrm>
            <a:off x="6524625" y="3412777"/>
            <a:ext cx="152400" cy="152400"/>
          </a:xfrm>
          <a:prstGeom prst="rect">
            <a:avLst/>
          </a:prstGeom>
          <a:noFill/>
          <a:ln>
            <a:noFill/>
          </a:ln>
        </p:spPr>
      </p:pic>
      <p:pic>
        <p:nvPicPr>
          <p:cNvPr descr="image.png" id="247" name="Google Shape;247;p18"/>
          <p:cNvPicPr preferRelativeResize="0"/>
          <p:nvPr/>
        </p:nvPicPr>
        <p:blipFill rotWithShape="1">
          <a:blip r:embed="rId9">
            <a:alphaModFix/>
          </a:blip>
          <a:srcRect b="0" l="0" r="0" t="0"/>
          <a:stretch/>
        </p:blipFill>
        <p:spPr>
          <a:xfrm>
            <a:off x="6524625" y="4169122"/>
            <a:ext cx="152400" cy="152400"/>
          </a:xfrm>
          <a:prstGeom prst="rect">
            <a:avLst/>
          </a:prstGeom>
          <a:noFill/>
          <a:ln>
            <a:noFill/>
          </a:ln>
        </p:spPr>
      </p:pic>
      <p:sp>
        <p:nvSpPr>
          <p:cNvPr id="248" name="Google Shape;248;p18"/>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EDA Highlights: SIP &amp; Inflows</a:t>
            </a:r>
            <a:endParaRPr/>
          </a:p>
        </p:txBody>
      </p:sp>
      <p:sp>
        <p:nvSpPr>
          <p:cNvPr id="249" name="Google Shape;249;p18"/>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50" name="Google Shape;250;p18"/>
          <p:cNvPicPr preferRelativeResize="0"/>
          <p:nvPr/>
        </p:nvPicPr>
        <p:blipFill>
          <a:blip r:embed="rId10">
            <a:alphaModFix/>
          </a:blip>
          <a:stretch>
            <a:fillRect/>
          </a:stretch>
        </p:blipFill>
        <p:spPr>
          <a:xfrm>
            <a:off x="376042" y="2736500"/>
            <a:ext cx="3391293" cy="1937450"/>
          </a:xfrm>
          <a:prstGeom prst="rect">
            <a:avLst/>
          </a:prstGeom>
          <a:noFill/>
          <a:ln>
            <a:noFill/>
          </a:ln>
        </p:spPr>
      </p:pic>
      <p:pic>
        <p:nvPicPr>
          <p:cNvPr id="251" name="Google Shape;251;p18"/>
          <p:cNvPicPr preferRelativeResize="0"/>
          <p:nvPr/>
        </p:nvPicPr>
        <p:blipFill>
          <a:blip r:embed="rId11">
            <a:alphaModFix/>
          </a:blip>
          <a:stretch>
            <a:fillRect/>
          </a:stretch>
        </p:blipFill>
        <p:spPr>
          <a:xfrm>
            <a:off x="4050727" y="2803161"/>
            <a:ext cx="1854843" cy="1804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pic>
        <p:nvPicPr>
          <p:cNvPr descr="image.png" id="256" name="Google Shape;2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7" name="Google Shape;257;p19"/>
          <p:cNvPicPr preferRelativeResize="0"/>
          <p:nvPr/>
        </p:nvPicPr>
        <p:blipFill rotWithShape="1">
          <a:blip r:embed="rId4">
            <a:alphaModFix/>
          </a:blip>
          <a:srcRect b="0" l="0" r="0" t="0"/>
          <a:stretch/>
        </p:blipFill>
        <p:spPr>
          <a:xfrm>
            <a:off x="666750" y="5230100"/>
            <a:ext cx="10858500" cy="712550"/>
          </a:xfrm>
          <a:prstGeom prst="rect">
            <a:avLst/>
          </a:prstGeom>
          <a:noFill/>
          <a:ln>
            <a:noFill/>
          </a:ln>
        </p:spPr>
      </p:pic>
      <p:pic>
        <p:nvPicPr>
          <p:cNvPr descr="image.png" id="258" name="Google Shape;258;p19"/>
          <p:cNvPicPr preferRelativeResize="0"/>
          <p:nvPr/>
        </p:nvPicPr>
        <p:blipFill rotWithShape="1">
          <a:blip r:embed="rId5">
            <a:alphaModFix/>
          </a:blip>
          <a:srcRect b="0" l="0" r="0" t="0"/>
          <a:stretch/>
        </p:blipFill>
        <p:spPr>
          <a:xfrm>
            <a:off x="10715625" y="6172200"/>
            <a:ext cx="809625" cy="209550"/>
          </a:xfrm>
          <a:prstGeom prst="rect">
            <a:avLst/>
          </a:prstGeom>
          <a:noFill/>
          <a:ln>
            <a:noFill/>
          </a:ln>
        </p:spPr>
      </p:pic>
      <p:pic>
        <p:nvPicPr>
          <p:cNvPr descr="image.png" id="259" name="Google Shape;259;p19"/>
          <p:cNvPicPr preferRelativeResize="0"/>
          <p:nvPr/>
        </p:nvPicPr>
        <p:blipFill rotWithShape="1">
          <a:blip r:embed="rId6">
            <a:alphaModFix/>
          </a:blip>
          <a:srcRect b="0" l="0" r="0" t="0"/>
          <a:stretch/>
        </p:blipFill>
        <p:spPr>
          <a:xfrm>
            <a:off x="157600" y="5942661"/>
            <a:ext cx="11367650" cy="439089"/>
          </a:xfrm>
          <a:prstGeom prst="rect">
            <a:avLst/>
          </a:prstGeom>
          <a:noFill/>
          <a:ln>
            <a:noFill/>
          </a:ln>
        </p:spPr>
      </p:pic>
      <p:sp>
        <p:nvSpPr>
          <p:cNvPr id="260" name="Google Shape;260;p19"/>
          <p:cNvSpPr txBox="1"/>
          <p:nvPr/>
        </p:nvSpPr>
        <p:spPr>
          <a:xfrm>
            <a:off x="666750" y="6210300"/>
            <a:ext cx="22574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PERFORMANCE METRICS EVALUATION</a:t>
            </a:r>
            <a:endParaRPr/>
          </a:p>
        </p:txBody>
      </p:sp>
      <p:sp>
        <p:nvSpPr>
          <p:cNvPr id="261" name="Google Shape;261;p19"/>
          <p:cNvSpPr txBox="1"/>
          <p:nvPr/>
        </p:nvSpPr>
        <p:spPr>
          <a:xfrm>
            <a:off x="6400800"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262" name="Google Shape;262;p19"/>
          <p:cNvSpPr txBox="1"/>
          <p:nvPr/>
        </p:nvSpPr>
        <p:spPr>
          <a:xfrm>
            <a:off x="819150" y="5269686"/>
            <a:ext cx="10553400" cy="40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Inter"/>
                <a:ea typeface="Inter"/>
                <a:cs typeface="Inter"/>
                <a:sym typeface="Inter"/>
              </a:rPr>
              <a:t>Observation:</a:t>
            </a:r>
            <a:r>
              <a:rPr b="0" i="0" lang="en-US" sz="1050" u="none" cap="none" strike="noStrike">
                <a:solidFill>
                  <a:srgbClr val="475569"/>
                </a:solidFill>
                <a:latin typeface="Inter"/>
                <a:ea typeface="Inter"/>
                <a:cs typeface="Inter"/>
                <a:sym typeface="Inter"/>
              </a:rPr>
              <a:t> Out of the analyzed schemes, several top equity and sectoral products deliver impressive long-term return rates while consistently keeping calculated downside risk metrics well within reasonable bounds.</a:t>
            </a:r>
            <a:endParaRPr/>
          </a:p>
        </p:txBody>
      </p:sp>
      <p:sp>
        <p:nvSpPr>
          <p:cNvPr id="263" name="Google Shape;263;p19"/>
          <p:cNvSpPr txBox="1"/>
          <p:nvPr/>
        </p:nvSpPr>
        <p:spPr>
          <a:xfrm>
            <a:off x="809625" y="476250"/>
            <a:ext cx="11251500" cy="40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Mutual Fund Performance Scorecard</a:t>
            </a:r>
            <a:endParaRPr/>
          </a:p>
        </p:txBody>
      </p:sp>
      <p:sp>
        <p:nvSpPr>
          <p:cNvPr id="264" name="Google Shape;264;p19"/>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65" name="Google Shape;265;p19"/>
          <p:cNvPicPr preferRelativeResize="0"/>
          <p:nvPr/>
        </p:nvPicPr>
        <p:blipFill>
          <a:blip r:embed="rId7">
            <a:alphaModFix/>
          </a:blip>
          <a:stretch>
            <a:fillRect/>
          </a:stretch>
        </p:blipFill>
        <p:spPr>
          <a:xfrm>
            <a:off x="1998963" y="1171501"/>
            <a:ext cx="7684920" cy="38124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image.png" id="270" name="Google Shape;27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1" name="Google Shape;271;p20"/>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272" name="Google Shape;272;p20"/>
          <p:cNvPicPr preferRelativeResize="0"/>
          <p:nvPr/>
        </p:nvPicPr>
        <p:blipFill rotWithShape="1">
          <a:blip r:embed="rId5">
            <a:alphaModFix/>
          </a:blip>
          <a:srcRect b="0" l="0" r="0" t="0"/>
          <a:stretch/>
        </p:blipFill>
        <p:spPr>
          <a:xfrm>
            <a:off x="666750" y="2144000"/>
            <a:ext cx="3453251" cy="2397050"/>
          </a:xfrm>
          <a:prstGeom prst="rect">
            <a:avLst/>
          </a:prstGeom>
          <a:noFill/>
          <a:ln>
            <a:noFill/>
          </a:ln>
        </p:spPr>
      </p:pic>
      <p:pic>
        <p:nvPicPr>
          <p:cNvPr descr="image.png" id="273" name="Google Shape;273;p20"/>
          <p:cNvPicPr preferRelativeResize="0"/>
          <p:nvPr/>
        </p:nvPicPr>
        <p:blipFill rotWithShape="1">
          <a:blip r:embed="rId6">
            <a:alphaModFix/>
          </a:blip>
          <a:srcRect b="0" l="0" r="0" t="0"/>
          <a:stretch/>
        </p:blipFill>
        <p:spPr>
          <a:xfrm>
            <a:off x="666750" y="6019800"/>
            <a:ext cx="10858500" cy="361950"/>
          </a:xfrm>
          <a:prstGeom prst="rect">
            <a:avLst/>
          </a:prstGeom>
          <a:noFill/>
          <a:ln>
            <a:noFill/>
          </a:ln>
        </p:spPr>
      </p:pic>
      <p:sp>
        <p:nvSpPr>
          <p:cNvPr id="274" name="Google Shape;274;p20"/>
          <p:cNvSpPr txBox="1"/>
          <p:nvPr/>
        </p:nvSpPr>
        <p:spPr>
          <a:xfrm>
            <a:off x="666750" y="6210300"/>
            <a:ext cx="22098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BENCHMARK EVALUATION SUMMARY</a:t>
            </a:r>
            <a:endParaRPr/>
          </a:p>
        </p:txBody>
      </p:sp>
      <p:sp>
        <p:nvSpPr>
          <p:cNvPr id="275" name="Google Shape;275;p20"/>
          <p:cNvSpPr txBox="1"/>
          <p:nvPr/>
        </p:nvSpPr>
        <p:spPr>
          <a:xfrm>
            <a:off x="6372225"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276" name="Google Shape;276;p20"/>
          <p:cNvSpPr txBox="1"/>
          <p:nvPr/>
        </p:nvSpPr>
        <p:spPr>
          <a:xfrm>
            <a:off x="919125" y="2340630"/>
            <a:ext cx="5000700" cy="2541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Evaluation Approach</a:t>
            </a:r>
            <a:endParaRPr/>
          </a:p>
        </p:txBody>
      </p:sp>
      <p:pic>
        <p:nvPicPr>
          <p:cNvPr descr="image.png" id="277" name="Google Shape;277;p20"/>
          <p:cNvPicPr preferRelativeResize="0"/>
          <p:nvPr/>
        </p:nvPicPr>
        <p:blipFill rotWithShape="1">
          <a:blip r:embed="rId7">
            <a:alphaModFix/>
          </a:blip>
          <a:srcRect b="0" l="0" r="0" t="0"/>
          <a:stretch/>
        </p:blipFill>
        <p:spPr>
          <a:xfrm>
            <a:off x="919125" y="2378730"/>
            <a:ext cx="209550" cy="209550"/>
          </a:xfrm>
          <a:prstGeom prst="rect">
            <a:avLst/>
          </a:prstGeom>
          <a:noFill/>
          <a:ln>
            <a:noFill/>
          </a:ln>
        </p:spPr>
      </p:pic>
      <p:sp>
        <p:nvSpPr>
          <p:cNvPr id="278" name="Google Shape;278;p20"/>
          <p:cNvSpPr txBox="1"/>
          <p:nvPr/>
        </p:nvSpPr>
        <p:spPr>
          <a:xfrm>
            <a:off x="1171575" y="2948880"/>
            <a:ext cx="44958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Compared funds against benchmark </a:t>
            </a:r>
            <a:endParaRPr/>
          </a:p>
        </p:txBody>
      </p:sp>
      <p:sp>
        <p:nvSpPr>
          <p:cNvPr id="279" name="Google Shape;279;p20"/>
          <p:cNvSpPr txBox="1"/>
          <p:nvPr/>
        </p:nvSpPr>
        <p:spPr>
          <a:xfrm>
            <a:off x="1171575" y="3491210"/>
            <a:ext cx="44958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Evaluated long-term returns </a:t>
            </a:r>
            <a:endParaRPr/>
          </a:p>
        </p:txBody>
      </p:sp>
      <p:sp>
        <p:nvSpPr>
          <p:cNvPr id="280" name="Google Shape;280;p20"/>
          <p:cNvSpPr txBox="1"/>
          <p:nvPr/>
        </p:nvSpPr>
        <p:spPr>
          <a:xfrm>
            <a:off x="1171575" y="4033539"/>
            <a:ext cx="44958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Identified outperforming schemes </a:t>
            </a:r>
            <a:endParaRPr/>
          </a:p>
        </p:txBody>
      </p:sp>
      <p:pic>
        <p:nvPicPr>
          <p:cNvPr descr="image.png" id="281" name="Google Shape;281;p20"/>
          <p:cNvPicPr preferRelativeResize="0"/>
          <p:nvPr/>
        </p:nvPicPr>
        <p:blipFill rotWithShape="1">
          <a:blip r:embed="rId8">
            <a:alphaModFix/>
          </a:blip>
          <a:srcRect b="0" l="0" r="0" t="0"/>
          <a:stretch/>
        </p:blipFill>
        <p:spPr>
          <a:xfrm>
            <a:off x="904875" y="2977455"/>
            <a:ext cx="152400" cy="152400"/>
          </a:xfrm>
          <a:prstGeom prst="rect">
            <a:avLst/>
          </a:prstGeom>
          <a:noFill/>
          <a:ln>
            <a:noFill/>
          </a:ln>
        </p:spPr>
      </p:pic>
      <p:pic>
        <p:nvPicPr>
          <p:cNvPr descr="image.png" id="282" name="Google Shape;282;p20"/>
          <p:cNvPicPr preferRelativeResize="0"/>
          <p:nvPr/>
        </p:nvPicPr>
        <p:blipFill rotWithShape="1">
          <a:blip r:embed="rId8">
            <a:alphaModFix/>
          </a:blip>
          <a:srcRect b="0" l="0" r="0" t="0"/>
          <a:stretch/>
        </p:blipFill>
        <p:spPr>
          <a:xfrm>
            <a:off x="904875" y="3519785"/>
            <a:ext cx="152400" cy="152400"/>
          </a:xfrm>
          <a:prstGeom prst="rect">
            <a:avLst/>
          </a:prstGeom>
          <a:noFill/>
          <a:ln>
            <a:noFill/>
          </a:ln>
        </p:spPr>
      </p:pic>
      <p:pic>
        <p:nvPicPr>
          <p:cNvPr descr="image.png" id="283" name="Google Shape;283;p20"/>
          <p:cNvPicPr preferRelativeResize="0"/>
          <p:nvPr/>
        </p:nvPicPr>
        <p:blipFill rotWithShape="1">
          <a:blip r:embed="rId8">
            <a:alphaModFix/>
          </a:blip>
          <a:srcRect b="0" l="0" r="0" t="0"/>
          <a:stretch/>
        </p:blipFill>
        <p:spPr>
          <a:xfrm>
            <a:off x="904875" y="4062114"/>
            <a:ext cx="152400" cy="152400"/>
          </a:xfrm>
          <a:prstGeom prst="rect">
            <a:avLst/>
          </a:prstGeom>
          <a:noFill/>
          <a:ln>
            <a:noFill/>
          </a:ln>
        </p:spPr>
      </p:pic>
      <p:sp>
        <p:nvSpPr>
          <p:cNvPr id="284" name="Google Shape;284;p20"/>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Benchmark Analysis</a:t>
            </a:r>
            <a:endParaRPr/>
          </a:p>
        </p:txBody>
      </p:sp>
      <p:sp>
        <p:nvSpPr>
          <p:cNvPr id="285" name="Google Shape;285;p20"/>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86" name="Google Shape;286;p20"/>
          <p:cNvPicPr preferRelativeResize="0"/>
          <p:nvPr/>
        </p:nvPicPr>
        <p:blipFill>
          <a:blip r:embed="rId9">
            <a:alphaModFix/>
          </a:blip>
          <a:stretch>
            <a:fillRect/>
          </a:stretch>
        </p:blipFill>
        <p:spPr>
          <a:xfrm>
            <a:off x="4253350" y="1428176"/>
            <a:ext cx="7710049" cy="38286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pic>
        <p:nvPicPr>
          <p:cNvPr descr="image.png" id="291" name="Google Shape;29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2" name="Google Shape;292;p21"/>
          <p:cNvPicPr preferRelativeResize="0"/>
          <p:nvPr/>
        </p:nvPicPr>
        <p:blipFill rotWithShape="1">
          <a:blip r:embed="rId4">
            <a:alphaModFix/>
          </a:blip>
          <a:srcRect b="0" l="0" r="0" t="0"/>
          <a:stretch/>
        </p:blipFill>
        <p:spPr>
          <a:xfrm>
            <a:off x="10706100" y="6172200"/>
            <a:ext cx="819150" cy="209550"/>
          </a:xfrm>
          <a:prstGeom prst="rect">
            <a:avLst/>
          </a:prstGeom>
          <a:noFill/>
          <a:ln>
            <a:noFill/>
          </a:ln>
        </p:spPr>
      </p:pic>
      <p:pic>
        <p:nvPicPr>
          <p:cNvPr descr="image.png" id="293" name="Google Shape;293;p21"/>
          <p:cNvPicPr preferRelativeResize="0"/>
          <p:nvPr/>
        </p:nvPicPr>
        <p:blipFill rotWithShape="1">
          <a:blip r:embed="rId5">
            <a:alphaModFix/>
          </a:blip>
          <a:srcRect b="0" l="0" r="0" t="0"/>
          <a:stretch/>
        </p:blipFill>
        <p:spPr>
          <a:xfrm>
            <a:off x="6286500" y="1666875"/>
            <a:ext cx="5238750" cy="3810000"/>
          </a:xfrm>
          <a:prstGeom prst="rect">
            <a:avLst/>
          </a:prstGeom>
          <a:noFill/>
          <a:ln>
            <a:noFill/>
          </a:ln>
        </p:spPr>
      </p:pic>
      <p:pic>
        <p:nvPicPr>
          <p:cNvPr descr="image.png" id="294" name="Google Shape;294;p21"/>
          <p:cNvPicPr preferRelativeResize="0"/>
          <p:nvPr/>
        </p:nvPicPr>
        <p:blipFill rotWithShape="1">
          <a:blip r:embed="rId6">
            <a:alphaModFix/>
          </a:blip>
          <a:srcRect b="0" l="0" r="0" t="0"/>
          <a:stretch/>
        </p:blipFill>
        <p:spPr>
          <a:xfrm>
            <a:off x="714375" y="2399024"/>
            <a:ext cx="5238750" cy="2107575"/>
          </a:xfrm>
          <a:prstGeom prst="rect">
            <a:avLst/>
          </a:prstGeom>
          <a:noFill/>
          <a:ln>
            <a:noFill/>
          </a:ln>
        </p:spPr>
      </p:pic>
      <p:pic>
        <p:nvPicPr>
          <p:cNvPr descr="image.png" id="295" name="Google Shape;295;p21"/>
          <p:cNvPicPr preferRelativeResize="0"/>
          <p:nvPr/>
        </p:nvPicPr>
        <p:blipFill rotWithShape="1">
          <a:blip r:embed="rId7">
            <a:alphaModFix/>
          </a:blip>
          <a:srcRect b="0" l="0" r="0" t="0"/>
          <a:stretch/>
        </p:blipFill>
        <p:spPr>
          <a:xfrm>
            <a:off x="666750" y="6019800"/>
            <a:ext cx="10858500" cy="361950"/>
          </a:xfrm>
          <a:prstGeom prst="rect">
            <a:avLst/>
          </a:prstGeom>
          <a:noFill/>
          <a:ln>
            <a:noFill/>
          </a:ln>
        </p:spPr>
      </p:pic>
      <p:sp>
        <p:nvSpPr>
          <p:cNvPr id="296" name="Google Shape;296;p21"/>
          <p:cNvSpPr txBox="1"/>
          <p:nvPr/>
        </p:nvSpPr>
        <p:spPr>
          <a:xfrm>
            <a:off x="666750" y="6210300"/>
            <a:ext cx="26765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BI DASHBOARD IMPLEMENTATION - LAYOUTS</a:t>
            </a:r>
            <a:endParaRPr/>
          </a:p>
        </p:txBody>
      </p:sp>
      <p:sp>
        <p:nvSpPr>
          <p:cNvPr id="297" name="Google Shape;297;p21"/>
          <p:cNvSpPr txBox="1"/>
          <p:nvPr/>
        </p:nvSpPr>
        <p:spPr>
          <a:xfrm>
            <a:off x="6605587"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298" name="Google Shape;298;p21"/>
          <p:cNvSpPr txBox="1"/>
          <p:nvPr/>
        </p:nvSpPr>
        <p:spPr>
          <a:xfrm>
            <a:off x="1181100" y="2679580"/>
            <a:ext cx="4572000" cy="4383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Dynamic KPI Cards:</a:t>
            </a:r>
            <a:r>
              <a:rPr b="0" i="0" lang="en-US" sz="1162" u="none" cap="none" strike="noStrike">
                <a:solidFill>
                  <a:srgbClr val="475569"/>
                </a:solidFill>
                <a:latin typeface="Inter"/>
                <a:ea typeface="Inter"/>
                <a:cs typeface="Inter"/>
                <a:sym typeface="Inter"/>
              </a:rPr>
              <a:t> View primary performance indicators on standard dashboard homepages.</a:t>
            </a:r>
            <a:endParaRPr/>
          </a:p>
        </p:txBody>
      </p:sp>
      <p:sp>
        <p:nvSpPr>
          <p:cNvPr id="299" name="Google Shape;299;p21"/>
          <p:cNvSpPr txBox="1"/>
          <p:nvPr/>
        </p:nvSpPr>
        <p:spPr>
          <a:xfrm>
            <a:off x="1181100" y="3221910"/>
            <a:ext cx="4572000" cy="4383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Global Slicers:</a:t>
            </a:r>
            <a:r>
              <a:rPr b="0" i="0" lang="en-US" sz="1162" u="none" cap="none" strike="noStrike">
                <a:solidFill>
                  <a:srgbClr val="475569"/>
                </a:solidFill>
                <a:latin typeface="Inter"/>
                <a:ea typeface="Inter"/>
                <a:cs typeface="Inter"/>
                <a:sym typeface="Inter"/>
              </a:rPr>
              <a:t> Slice and filter metrics by category, sector, date, or asset parameters.</a:t>
            </a:r>
            <a:endParaRPr/>
          </a:p>
        </p:txBody>
      </p:sp>
      <p:sp>
        <p:nvSpPr>
          <p:cNvPr id="300" name="Google Shape;300;p21"/>
          <p:cNvSpPr txBox="1"/>
          <p:nvPr/>
        </p:nvSpPr>
        <p:spPr>
          <a:xfrm>
            <a:off x="1181100" y="3764239"/>
            <a:ext cx="4572000" cy="4383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1" i="0" lang="en-US" sz="1162" u="none" cap="none" strike="noStrike">
                <a:solidFill>
                  <a:srgbClr val="475569"/>
                </a:solidFill>
                <a:latin typeface="Inter"/>
                <a:ea typeface="Inter"/>
                <a:cs typeface="Inter"/>
                <a:sym typeface="Inter"/>
              </a:rPr>
              <a:t>Cross-Filtering:</a:t>
            </a:r>
            <a:r>
              <a:rPr b="0" i="0" lang="en-US" sz="1162" u="none" cap="none" strike="noStrike">
                <a:solidFill>
                  <a:srgbClr val="475569"/>
                </a:solidFill>
                <a:latin typeface="Inter"/>
                <a:ea typeface="Inter"/>
                <a:cs typeface="Inter"/>
                <a:sym typeface="Inter"/>
              </a:rPr>
              <a:t> Interactive cross-chart brushing simplifies detailed micro analytics.</a:t>
            </a:r>
            <a:endParaRPr/>
          </a:p>
        </p:txBody>
      </p:sp>
      <p:pic>
        <p:nvPicPr>
          <p:cNvPr descr="image.png" id="301" name="Google Shape;301;p21"/>
          <p:cNvPicPr preferRelativeResize="0"/>
          <p:nvPr/>
        </p:nvPicPr>
        <p:blipFill rotWithShape="1">
          <a:blip r:embed="rId8">
            <a:alphaModFix/>
          </a:blip>
          <a:srcRect b="0" l="0" r="0" t="0"/>
          <a:stretch/>
        </p:blipFill>
        <p:spPr>
          <a:xfrm>
            <a:off x="914400" y="2708155"/>
            <a:ext cx="133350" cy="152400"/>
          </a:xfrm>
          <a:prstGeom prst="rect">
            <a:avLst/>
          </a:prstGeom>
          <a:noFill/>
          <a:ln>
            <a:noFill/>
          </a:ln>
        </p:spPr>
      </p:pic>
      <p:pic>
        <p:nvPicPr>
          <p:cNvPr descr="image.png" id="302" name="Google Shape;302;p21"/>
          <p:cNvPicPr preferRelativeResize="0"/>
          <p:nvPr/>
        </p:nvPicPr>
        <p:blipFill rotWithShape="1">
          <a:blip r:embed="rId9">
            <a:alphaModFix/>
          </a:blip>
          <a:srcRect b="0" l="0" r="0" t="0"/>
          <a:stretch/>
        </p:blipFill>
        <p:spPr>
          <a:xfrm>
            <a:off x="914400" y="3250485"/>
            <a:ext cx="152400" cy="152400"/>
          </a:xfrm>
          <a:prstGeom prst="rect">
            <a:avLst/>
          </a:prstGeom>
          <a:noFill/>
          <a:ln>
            <a:noFill/>
          </a:ln>
        </p:spPr>
      </p:pic>
      <p:pic>
        <p:nvPicPr>
          <p:cNvPr descr="image.png" id="303" name="Google Shape;303;p21"/>
          <p:cNvPicPr preferRelativeResize="0"/>
          <p:nvPr/>
        </p:nvPicPr>
        <p:blipFill rotWithShape="1">
          <a:blip r:embed="rId10">
            <a:alphaModFix/>
          </a:blip>
          <a:srcRect b="0" l="0" r="0" t="0"/>
          <a:stretch/>
        </p:blipFill>
        <p:spPr>
          <a:xfrm>
            <a:off x="914400" y="3792814"/>
            <a:ext cx="152400" cy="152400"/>
          </a:xfrm>
          <a:prstGeom prst="rect">
            <a:avLst/>
          </a:prstGeom>
          <a:noFill/>
          <a:ln>
            <a:noFill/>
          </a:ln>
        </p:spPr>
      </p:pic>
      <p:sp>
        <p:nvSpPr>
          <p:cNvPr id="304" name="Google Shape;304;p21"/>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Interactive Power BI Dashboard</a:t>
            </a:r>
            <a:endParaRPr/>
          </a:p>
        </p:txBody>
      </p:sp>
      <p:sp>
        <p:nvSpPr>
          <p:cNvPr id="305" name="Google Shape;305;p21"/>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06" name="Google Shape;306;p21"/>
          <p:cNvPicPr preferRelativeResize="0"/>
          <p:nvPr/>
        </p:nvPicPr>
        <p:blipFill>
          <a:blip r:embed="rId11">
            <a:alphaModFix/>
          </a:blip>
          <a:stretch>
            <a:fillRect/>
          </a:stretch>
        </p:blipFill>
        <p:spPr>
          <a:xfrm>
            <a:off x="6458006" y="2164700"/>
            <a:ext cx="4895740" cy="2757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pic>
        <p:nvPicPr>
          <p:cNvPr descr="image.png" id="311" name="Google Shape;31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2" name="Google Shape;312;p22"/>
          <p:cNvPicPr preferRelativeResize="0"/>
          <p:nvPr/>
        </p:nvPicPr>
        <p:blipFill rotWithShape="1">
          <a:blip r:embed="rId4">
            <a:alphaModFix/>
          </a:blip>
          <a:srcRect b="0" l="0" r="0" t="0"/>
          <a:stretch/>
        </p:blipFill>
        <p:spPr>
          <a:xfrm>
            <a:off x="10658475" y="6172200"/>
            <a:ext cx="866775" cy="209550"/>
          </a:xfrm>
          <a:prstGeom prst="rect">
            <a:avLst/>
          </a:prstGeom>
          <a:noFill/>
          <a:ln>
            <a:noFill/>
          </a:ln>
        </p:spPr>
      </p:pic>
      <p:pic>
        <p:nvPicPr>
          <p:cNvPr descr="image.png" id="313" name="Google Shape;313;p22"/>
          <p:cNvPicPr preferRelativeResize="0"/>
          <p:nvPr/>
        </p:nvPicPr>
        <p:blipFill rotWithShape="1">
          <a:blip r:embed="rId5">
            <a:alphaModFix/>
          </a:blip>
          <a:srcRect b="0" l="0" r="0" t="0"/>
          <a:stretch/>
        </p:blipFill>
        <p:spPr>
          <a:xfrm>
            <a:off x="664375" y="1312366"/>
            <a:ext cx="5334000" cy="2028229"/>
          </a:xfrm>
          <a:prstGeom prst="rect">
            <a:avLst/>
          </a:prstGeom>
          <a:noFill/>
          <a:ln>
            <a:noFill/>
          </a:ln>
        </p:spPr>
      </p:pic>
      <p:pic>
        <p:nvPicPr>
          <p:cNvPr descr="image.png" id="314" name="Google Shape;314;p22"/>
          <p:cNvPicPr preferRelativeResize="0"/>
          <p:nvPr/>
        </p:nvPicPr>
        <p:blipFill rotWithShape="1">
          <a:blip r:embed="rId6">
            <a:alphaModFix/>
          </a:blip>
          <a:srcRect b="0" l="0" r="0" t="0"/>
          <a:stretch/>
        </p:blipFill>
        <p:spPr>
          <a:xfrm>
            <a:off x="662025" y="3567500"/>
            <a:ext cx="5334000" cy="2201175"/>
          </a:xfrm>
          <a:prstGeom prst="rect">
            <a:avLst/>
          </a:prstGeom>
          <a:noFill/>
          <a:ln>
            <a:noFill/>
          </a:ln>
        </p:spPr>
      </p:pic>
      <p:pic>
        <p:nvPicPr>
          <p:cNvPr descr="image.png" id="315" name="Google Shape;315;p22"/>
          <p:cNvPicPr preferRelativeResize="0"/>
          <p:nvPr/>
        </p:nvPicPr>
        <p:blipFill rotWithShape="1">
          <a:blip r:embed="rId7">
            <a:alphaModFix/>
          </a:blip>
          <a:srcRect b="0" l="0" r="0" t="0"/>
          <a:stretch/>
        </p:blipFill>
        <p:spPr>
          <a:xfrm>
            <a:off x="666750" y="6019800"/>
            <a:ext cx="10858500" cy="361950"/>
          </a:xfrm>
          <a:prstGeom prst="rect">
            <a:avLst/>
          </a:prstGeom>
          <a:noFill/>
          <a:ln>
            <a:noFill/>
          </a:ln>
        </p:spPr>
      </p:pic>
      <p:sp>
        <p:nvSpPr>
          <p:cNvPr id="316" name="Google Shape;316;p22"/>
          <p:cNvSpPr txBox="1"/>
          <p:nvPr/>
        </p:nvSpPr>
        <p:spPr>
          <a:xfrm>
            <a:off x="666750" y="6210300"/>
            <a:ext cx="40290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BI DASHBOARD IMPLEMENTATION - ADVANCED PAGE BREAKDOWNS</a:t>
            </a:r>
            <a:endParaRPr/>
          </a:p>
        </p:txBody>
      </p:sp>
      <p:sp>
        <p:nvSpPr>
          <p:cNvPr id="317" name="Google Shape;317;p22"/>
          <p:cNvSpPr txBox="1"/>
          <p:nvPr/>
        </p:nvSpPr>
        <p:spPr>
          <a:xfrm>
            <a:off x="7258050"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318" name="Google Shape;318;p22"/>
          <p:cNvSpPr txBox="1"/>
          <p:nvPr/>
        </p:nvSpPr>
        <p:spPr>
          <a:xfrm>
            <a:off x="902500" y="1550491"/>
            <a:ext cx="5100600" cy="2541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Investor &amp; SIP Trends</a:t>
            </a:r>
            <a:endParaRPr/>
          </a:p>
        </p:txBody>
      </p:sp>
      <p:sp>
        <p:nvSpPr>
          <p:cNvPr id="319" name="Google Shape;319;p22"/>
          <p:cNvSpPr txBox="1"/>
          <p:nvPr/>
        </p:nvSpPr>
        <p:spPr>
          <a:xfrm>
            <a:off x="902500" y="1931491"/>
            <a:ext cx="4857900" cy="40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Inter"/>
                <a:ea typeface="Inter"/>
                <a:cs typeface="Inter"/>
                <a:sym typeface="Inter"/>
              </a:rPr>
              <a:t>Target Analytics:</a:t>
            </a:r>
            <a:r>
              <a:rPr b="0" i="0" lang="en-US" sz="1050" u="none" cap="none" strike="noStrike">
                <a:solidFill>
                  <a:srgbClr val="475569"/>
                </a:solidFill>
                <a:latin typeface="Inter"/>
                <a:ea typeface="Inter"/>
                <a:cs typeface="Inter"/>
                <a:sym typeface="Inter"/>
              </a:rPr>
              <a:t> Track historical retail monthly subscription volumes over multiple years.</a:t>
            </a:r>
            <a:endParaRPr/>
          </a:p>
        </p:txBody>
      </p:sp>
      <p:sp>
        <p:nvSpPr>
          <p:cNvPr id="320" name="Google Shape;320;p22"/>
          <p:cNvSpPr txBox="1"/>
          <p:nvPr/>
        </p:nvSpPr>
        <p:spPr>
          <a:xfrm>
            <a:off x="900138" y="3805629"/>
            <a:ext cx="5100600" cy="2541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0F2942"/>
                </a:solidFill>
                <a:latin typeface="Plus Jakarta Sans SemiBold"/>
                <a:ea typeface="Plus Jakarta Sans SemiBold"/>
                <a:cs typeface="Plus Jakarta Sans SemiBold"/>
                <a:sym typeface="Plus Jakarta Sans SemiBold"/>
              </a:rPr>
              <a:t>NAV &amp; Scheme Comparisons</a:t>
            </a:r>
            <a:endParaRPr/>
          </a:p>
        </p:txBody>
      </p:sp>
      <p:sp>
        <p:nvSpPr>
          <p:cNvPr id="321" name="Google Shape;321;p22"/>
          <p:cNvSpPr txBox="1"/>
          <p:nvPr/>
        </p:nvSpPr>
        <p:spPr>
          <a:xfrm>
            <a:off x="900138" y="4186629"/>
            <a:ext cx="4857900" cy="1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050">
                <a:solidFill>
                  <a:srgbClr val="475569"/>
                </a:solidFill>
                <a:latin typeface="Inter"/>
                <a:ea typeface="Inter"/>
                <a:cs typeface="Inter"/>
                <a:sym typeface="Inter"/>
              </a:rPr>
              <a:t>Dashboard Pages </a:t>
            </a:r>
            <a:endParaRPr/>
          </a:p>
        </p:txBody>
      </p:sp>
      <p:pic>
        <p:nvPicPr>
          <p:cNvPr descr="image.png" id="322" name="Google Shape;322;p22"/>
          <p:cNvPicPr preferRelativeResize="0"/>
          <p:nvPr/>
        </p:nvPicPr>
        <p:blipFill rotWithShape="1">
          <a:blip r:embed="rId8">
            <a:alphaModFix/>
          </a:blip>
          <a:srcRect b="0" l="0" r="0" t="0"/>
          <a:stretch/>
        </p:blipFill>
        <p:spPr>
          <a:xfrm>
            <a:off x="902500" y="1588591"/>
            <a:ext cx="266700" cy="209550"/>
          </a:xfrm>
          <a:prstGeom prst="rect">
            <a:avLst/>
          </a:prstGeom>
          <a:noFill/>
          <a:ln>
            <a:noFill/>
          </a:ln>
        </p:spPr>
      </p:pic>
      <p:sp>
        <p:nvSpPr>
          <p:cNvPr id="323" name="Google Shape;323;p22"/>
          <p:cNvSpPr txBox="1"/>
          <p:nvPr/>
        </p:nvSpPr>
        <p:spPr>
          <a:xfrm>
            <a:off x="1169200" y="2445841"/>
            <a:ext cx="45912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Monitor active SIP volume flow values.</a:t>
            </a:r>
            <a:endParaRPr/>
          </a:p>
        </p:txBody>
      </p:sp>
      <p:sp>
        <p:nvSpPr>
          <p:cNvPr id="324" name="Google Shape;324;p22"/>
          <p:cNvSpPr txBox="1"/>
          <p:nvPr/>
        </p:nvSpPr>
        <p:spPr>
          <a:xfrm>
            <a:off x="1169200" y="2774156"/>
            <a:ext cx="45912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Compare direct versus regular execution paths.</a:t>
            </a:r>
            <a:endParaRPr/>
          </a:p>
        </p:txBody>
      </p:sp>
      <p:pic>
        <p:nvPicPr>
          <p:cNvPr descr="image.png" id="325" name="Google Shape;325;p22"/>
          <p:cNvPicPr preferRelativeResize="0"/>
          <p:nvPr/>
        </p:nvPicPr>
        <p:blipFill rotWithShape="1">
          <a:blip r:embed="rId9">
            <a:alphaModFix/>
          </a:blip>
          <a:srcRect b="0" l="0" r="0" t="0"/>
          <a:stretch/>
        </p:blipFill>
        <p:spPr>
          <a:xfrm>
            <a:off x="900138" y="3843729"/>
            <a:ext cx="209550" cy="209550"/>
          </a:xfrm>
          <a:prstGeom prst="rect">
            <a:avLst/>
          </a:prstGeom>
          <a:noFill/>
          <a:ln>
            <a:noFill/>
          </a:ln>
        </p:spPr>
      </p:pic>
      <p:sp>
        <p:nvSpPr>
          <p:cNvPr id="326" name="Google Shape;326;p22"/>
          <p:cNvSpPr txBox="1"/>
          <p:nvPr/>
        </p:nvSpPr>
        <p:spPr>
          <a:xfrm>
            <a:off x="1167938" y="4455254"/>
            <a:ext cx="45912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Investor Analytics </a:t>
            </a:r>
            <a:endParaRPr/>
          </a:p>
        </p:txBody>
      </p:sp>
      <p:sp>
        <p:nvSpPr>
          <p:cNvPr id="327" name="Google Shape;327;p22"/>
          <p:cNvSpPr txBox="1"/>
          <p:nvPr/>
        </p:nvSpPr>
        <p:spPr>
          <a:xfrm>
            <a:off x="1167938" y="4783569"/>
            <a:ext cx="4591200" cy="178800"/>
          </a:xfrm>
          <a:prstGeom prst="rect">
            <a:avLst/>
          </a:prstGeom>
          <a:noFill/>
          <a:ln>
            <a:noFill/>
          </a:ln>
        </p:spPr>
        <p:txBody>
          <a:bodyPr anchorCtr="0" anchor="t" bIns="0" lIns="0" spcFirstLastPara="1" rIns="0" wrap="square" tIns="0">
            <a:spAutoFit/>
          </a:bodyPr>
          <a:lstStyle/>
          <a:p>
            <a:pPr indent="0" lvl="0" marL="0" rtl="0" algn="l">
              <a:lnSpc>
                <a:spcPct val="145008"/>
              </a:lnSpc>
              <a:spcBef>
                <a:spcPts val="0"/>
              </a:spcBef>
              <a:spcAft>
                <a:spcPts val="0"/>
              </a:spcAft>
              <a:buSzPts val="1100"/>
              <a:buNone/>
            </a:pPr>
            <a:r>
              <a:rPr lang="en-US" sz="1162">
                <a:solidFill>
                  <a:srgbClr val="475569"/>
                </a:solidFill>
                <a:latin typeface="Inter"/>
                <a:ea typeface="Inter"/>
                <a:cs typeface="Inter"/>
                <a:sym typeface="Inter"/>
              </a:rPr>
              <a:t>SIP Trends</a:t>
            </a:r>
            <a:endParaRPr sz="1162">
              <a:solidFill>
                <a:srgbClr val="475569"/>
              </a:solidFill>
              <a:latin typeface="Inter"/>
              <a:ea typeface="Inter"/>
              <a:cs typeface="Inter"/>
              <a:sym typeface="Inter"/>
            </a:endParaRPr>
          </a:p>
        </p:txBody>
      </p:sp>
      <p:pic>
        <p:nvPicPr>
          <p:cNvPr descr="image.png" id="328" name="Google Shape;328;p22"/>
          <p:cNvPicPr preferRelativeResize="0"/>
          <p:nvPr/>
        </p:nvPicPr>
        <p:blipFill rotWithShape="1">
          <a:blip r:embed="rId10">
            <a:alphaModFix/>
          </a:blip>
          <a:srcRect b="0" l="0" r="0" t="0"/>
          <a:stretch/>
        </p:blipFill>
        <p:spPr>
          <a:xfrm>
            <a:off x="902500" y="2474416"/>
            <a:ext cx="133350" cy="152400"/>
          </a:xfrm>
          <a:prstGeom prst="rect">
            <a:avLst/>
          </a:prstGeom>
          <a:noFill/>
          <a:ln>
            <a:noFill/>
          </a:ln>
        </p:spPr>
      </p:pic>
      <p:pic>
        <p:nvPicPr>
          <p:cNvPr descr="image.png" id="329" name="Google Shape;329;p22"/>
          <p:cNvPicPr preferRelativeResize="0"/>
          <p:nvPr/>
        </p:nvPicPr>
        <p:blipFill rotWithShape="1">
          <a:blip r:embed="rId10">
            <a:alphaModFix/>
          </a:blip>
          <a:srcRect b="0" l="0" r="0" t="0"/>
          <a:stretch/>
        </p:blipFill>
        <p:spPr>
          <a:xfrm>
            <a:off x="902500" y="2802731"/>
            <a:ext cx="133350" cy="152400"/>
          </a:xfrm>
          <a:prstGeom prst="rect">
            <a:avLst/>
          </a:prstGeom>
          <a:noFill/>
          <a:ln>
            <a:noFill/>
          </a:ln>
        </p:spPr>
      </p:pic>
      <p:pic>
        <p:nvPicPr>
          <p:cNvPr descr="image.png" id="330" name="Google Shape;330;p22"/>
          <p:cNvPicPr preferRelativeResize="0"/>
          <p:nvPr/>
        </p:nvPicPr>
        <p:blipFill rotWithShape="1">
          <a:blip r:embed="rId10">
            <a:alphaModFix/>
          </a:blip>
          <a:srcRect b="0" l="0" r="0" t="0"/>
          <a:stretch/>
        </p:blipFill>
        <p:spPr>
          <a:xfrm>
            <a:off x="901238" y="4483829"/>
            <a:ext cx="133350" cy="152400"/>
          </a:xfrm>
          <a:prstGeom prst="rect">
            <a:avLst/>
          </a:prstGeom>
          <a:noFill/>
          <a:ln>
            <a:noFill/>
          </a:ln>
        </p:spPr>
      </p:pic>
      <p:pic>
        <p:nvPicPr>
          <p:cNvPr descr="image.png" id="331" name="Google Shape;331;p22"/>
          <p:cNvPicPr preferRelativeResize="0"/>
          <p:nvPr/>
        </p:nvPicPr>
        <p:blipFill rotWithShape="1">
          <a:blip r:embed="rId10">
            <a:alphaModFix/>
          </a:blip>
          <a:srcRect b="0" l="0" r="0" t="0"/>
          <a:stretch/>
        </p:blipFill>
        <p:spPr>
          <a:xfrm>
            <a:off x="901238" y="4812144"/>
            <a:ext cx="133350" cy="152400"/>
          </a:xfrm>
          <a:prstGeom prst="rect">
            <a:avLst/>
          </a:prstGeom>
          <a:noFill/>
          <a:ln>
            <a:noFill/>
          </a:ln>
        </p:spPr>
      </p:pic>
      <p:sp>
        <p:nvSpPr>
          <p:cNvPr id="332" name="Google Shape;332;p22"/>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Interactive Power BI Dashboard</a:t>
            </a:r>
            <a:endParaRPr/>
          </a:p>
        </p:txBody>
      </p:sp>
      <p:sp>
        <p:nvSpPr>
          <p:cNvPr id="333" name="Google Shape;333;p22"/>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34" name="Google Shape;334;p22"/>
          <p:cNvPicPr preferRelativeResize="0"/>
          <p:nvPr/>
        </p:nvPicPr>
        <p:blipFill>
          <a:blip r:embed="rId11">
            <a:alphaModFix/>
          </a:blip>
          <a:stretch>
            <a:fillRect/>
          </a:stretch>
        </p:blipFill>
        <p:spPr>
          <a:xfrm>
            <a:off x="6219825" y="1843175"/>
            <a:ext cx="5743575" cy="3219270"/>
          </a:xfrm>
          <a:prstGeom prst="rect">
            <a:avLst/>
          </a:prstGeom>
          <a:noFill/>
          <a:ln>
            <a:noFill/>
          </a:ln>
        </p:spPr>
      </p:pic>
      <p:sp>
        <p:nvSpPr>
          <p:cNvPr id="335" name="Google Shape;335;p22"/>
          <p:cNvSpPr txBox="1"/>
          <p:nvPr/>
        </p:nvSpPr>
        <p:spPr>
          <a:xfrm>
            <a:off x="1170288" y="5114666"/>
            <a:ext cx="45912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NAV Analysis </a:t>
            </a:r>
            <a:endParaRPr/>
          </a:p>
        </p:txBody>
      </p:sp>
      <p:pic>
        <p:nvPicPr>
          <p:cNvPr descr="image.png" id="336" name="Google Shape;336;p22"/>
          <p:cNvPicPr preferRelativeResize="0"/>
          <p:nvPr/>
        </p:nvPicPr>
        <p:blipFill rotWithShape="1">
          <a:blip r:embed="rId10">
            <a:alphaModFix/>
          </a:blip>
          <a:srcRect b="0" l="0" r="0" t="0"/>
          <a:stretch/>
        </p:blipFill>
        <p:spPr>
          <a:xfrm>
            <a:off x="903588" y="5143241"/>
            <a:ext cx="133350" cy="152400"/>
          </a:xfrm>
          <a:prstGeom prst="rect">
            <a:avLst/>
          </a:prstGeom>
          <a:noFill/>
          <a:ln>
            <a:noFill/>
          </a:ln>
        </p:spPr>
      </p:pic>
      <p:sp>
        <p:nvSpPr>
          <p:cNvPr id="337" name="Google Shape;337;p22"/>
          <p:cNvSpPr txBox="1"/>
          <p:nvPr/>
        </p:nvSpPr>
        <p:spPr>
          <a:xfrm>
            <a:off x="1167938" y="5443291"/>
            <a:ext cx="4591200" cy="178800"/>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lang="en-US" sz="1162">
                <a:solidFill>
                  <a:srgbClr val="475569"/>
                </a:solidFill>
                <a:latin typeface="Inter"/>
                <a:ea typeface="Inter"/>
                <a:cs typeface="Inter"/>
                <a:sym typeface="Inter"/>
              </a:rPr>
              <a:t>Fund Comparison</a:t>
            </a:r>
            <a:endParaRPr/>
          </a:p>
        </p:txBody>
      </p:sp>
      <p:pic>
        <p:nvPicPr>
          <p:cNvPr descr="image.png" id="338" name="Google Shape;338;p22"/>
          <p:cNvPicPr preferRelativeResize="0"/>
          <p:nvPr/>
        </p:nvPicPr>
        <p:blipFill rotWithShape="1">
          <a:blip r:embed="rId10">
            <a:alphaModFix/>
          </a:blip>
          <a:srcRect b="0" l="0" r="0" t="0"/>
          <a:stretch/>
        </p:blipFill>
        <p:spPr>
          <a:xfrm>
            <a:off x="901238" y="5471866"/>
            <a:ext cx="133350" cy="152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pic>
        <p:nvPicPr>
          <p:cNvPr descr="image.png" id="343" name="Google Shape;343;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4" name="Google Shape;344;p23"/>
          <p:cNvPicPr preferRelativeResize="0"/>
          <p:nvPr/>
        </p:nvPicPr>
        <p:blipFill rotWithShape="1">
          <a:blip r:embed="rId4">
            <a:alphaModFix/>
          </a:blip>
          <a:srcRect b="0" l="0" r="0" t="0"/>
          <a:stretch/>
        </p:blipFill>
        <p:spPr>
          <a:xfrm>
            <a:off x="10677525" y="6172200"/>
            <a:ext cx="847725" cy="209550"/>
          </a:xfrm>
          <a:prstGeom prst="rect">
            <a:avLst/>
          </a:prstGeom>
          <a:noFill/>
          <a:ln>
            <a:noFill/>
          </a:ln>
        </p:spPr>
      </p:pic>
      <p:pic>
        <p:nvPicPr>
          <p:cNvPr descr="image.png" id="345" name="Google Shape;345;p23"/>
          <p:cNvPicPr preferRelativeResize="0"/>
          <p:nvPr/>
        </p:nvPicPr>
        <p:blipFill rotWithShape="1">
          <a:blip r:embed="rId5">
            <a:alphaModFix/>
          </a:blip>
          <a:srcRect b="0" l="0" r="0" t="0"/>
          <a:stretch/>
        </p:blipFill>
        <p:spPr>
          <a:xfrm>
            <a:off x="666750" y="2472332"/>
            <a:ext cx="5238750" cy="2199084"/>
          </a:xfrm>
          <a:prstGeom prst="rect">
            <a:avLst/>
          </a:prstGeom>
          <a:noFill/>
          <a:ln>
            <a:noFill/>
          </a:ln>
        </p:spPr>
      </p:pic>
      <p:pic>
        <p:nvPicPr>
          <p:cNvPr descr="image.png" id="346" name="Google Shape;346;p23"/>
          <p:cNvPicPr preferRelativeResize="0"/>
          <p:nvPr/>
        </p:nvPicPr>
        <p:blipFill rotWithShape="1">
          <a:blip r:embed="rId6">
            <a:alphaModFix/>
          </a:blip>
          <a:srcRect b="0" l="0" r="0" t="0"/>
          <a:stretch/>
        </p:blipFill>
        <p:spPr>
          <a:xfrm>
            <a:off x="6286500" y="2472332"/>
            <a:ext cx="5238750" cy="2199084"/>
          </a:xfrm>
          <a:prstGeom prst="rect">
            <a:avLst/>
          </a:prstGeom>
          <a:noFill/>
          <a:ln>
            <a:noFill/>
          </a:ln>
        </p:spPr>
      </p:pic>
      <p:pic>
        <p:nvPicPr>
          <p:cNvPr descr="image.png" id="347" name="Google Shape;347;p23"/>
          <p:cNvPicPr preferRelativeResize="0"/>
          <p:nvPr/>
        </p:nvPicPr>
        <p:blipFill rotWithShape="1">
          <a:blip r:embed="rId7">
            <a:alphaModFix/>
          </a:blip>
          <a:srcRect b="0" l="0" r="0" t="0"/>
          <a:stretch/>
        </p:blipFill>
        <p:spPr>
          <a:xfrm>
            <a:off x="666750" y="6019800"/>
            <a:ext cx="10858500" cy="361950"/>
          </a:xfrm>
          <a:prstGeom prst="rect">
            <a:avLst/>
          </a:prstGeom>
          <a:noFill/>
          <a:ln>
            <a:noFill/>
          </a:ln>
        </p:spPr>
      </p:pic>
      <p:sp>
        <p:nvSpPr>
          <p:cNvPr id="348" name="Google Shape;348;p23"/>
          <p:cNvSpPr txBox="1"/>
          <p:nvPr/>
        </p:nvSpPr>
        <p:spPr>
          <a:xfrm>
            <a:off x="666750" y="6210300"/>
            <a:ext cx="30194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Inter Medium"/>
                <a:ea typeface="Inter Medium"/>
                <a:cs typeface="Inter Medium"/>
                <a:sym typeface="Inter Medium"/>
              </a:rPr>
              <a:t>MAJOR FINDINGS &amp; BUSINESS RECOMMENDATIONS</a:t>
            </a:r>
            <a:endParaRPr/>
          </a:p>
        </p:txBody>
      </p:sp>
      <p:sp>
        <p:nvSpPr>
          <p:cNvPr id="349" name="Google Shape;349;p23"/>
          <p:cNvSpPr txBox="1"/>
          <p:nvPr/>
        </p:nvSpPr>
        <p:spPr>
          <a:xfrm>
            <a:off x="6762750"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2942"/>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
        <p:nvSpPr>
          <p:cNvPr id="350" name="Google Shape;350;p23"/>
          <p:cNvSpPr txBox="1"/>
          <p:nvPr/>
        </p:nvSpPr>
        <p:spPr>
          <a:xfrm>
            <a:off x="904875" y="2739032"/>
            <a:ext cx="5000625" cy="2667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Plus Jakarta Sans SemiBold"/>
                <a:ea typeface="Plus Jakarta Sans SemiBold"/>
                <a:cs typeface="Plus Jakarta Sans SemiBold"/>
                <a:sym typeface="Plus Jakarta Sans SemiBold"/>
              </a:rPr>
              <a:t>Major Analytical Findings</a:t>
            </a:r>
            <a:endParaRPr/>
          </a:p>
        </p:txBody>
      </p:sp>
      <p:sp>
        <p:nvSpPr>
          <p:cNvPr id="351" name="Google Shape;351;p23"/>
          <p:cNvSpPr txBox="1"/>
          <p:nvPr/>
        </p:nvSpPr>
        <p:spPr>
          <a:xfrm>
            <a:off x="6524625" y="2739032"/>
            <a:ext cx="5000625" cy="266700"/>
          </a:xfrm>
          <a:prstGeom prst="rect">
            <a:avLst/>
          </a:prstGeom>
          <a:noFill/>
          <a:ln>
            <a:noFill/>
          </a:ln>
        </p:spPr>
        <p:txBody>
          <a:bodyPr anchorCtr="0" anchor="t" bIns="0" lIns="238125" spcFirstLastPara="1" rIns="0" wrap="square" tIns="0">
            <a:spAutoFit/>
          </a:bodyPr>
          <a:lstStyle/>
          <a:p>
            <a:pPr indent="0" lvl="0" marL="0" marR="0" rtl="0" algn="l">
              <a:spcBef>
                <a:spcPts val="0"/>
              </a:spcBef>
              <a:spcAft>
                <a:spcPts val="0"/>
              </a:spcAft>
              <a:buNone/>
            </a:pPr>
            <a:r>
              <a:rPr b="0" i="0" lang="en-US" sz="1650" u="none" cap="none" strike="noStrike">
                <a:solidFill>
                  <a:srgbClr val="065F46"/>
                </a:solidFill>
                <a:latin typeface="Plus Jakarta Sans SemiBold"/>
                <a:ea typeface="Plus Jakarta Sans SemiBold"/>
                <a:cs typeface="Plus Jakarta Sans SemiBold"/>
                <a:sym typeface="Plus Jakarta Sans SemiBold"/>
              </a:rPr>
              <a:t>Strategic Recommendations</a:t>
            </a:r>
            <a:endParaRPr/>
          </a:p>
        </p:txBody>
      </p:sp>
      <p:pic>
        <p:nvPicPr>
          <p:cNvPr descr="image.png" id="352" name="Google Shape;352;p23"/>
          <p:cNvPicPr preferRelativeResize="0"/>
          <p:nvPr/>
        </p:nvPicPr>
        <p:blipFill rotWithShape="1">
          <a:blip r:embed="rId8">
            <a:alphaModFix/>
          </a:blip>
          <a:srcRect b="0" l="0" r="0" t="0"/>
          <a:stretch/>
        </p:blipFill>
        <p:spPr>
          <a:xfrm>
            <a:off x="904875" y="2777132"/>
            <a:ext cx="209550" cy="209550"/>
          </a:xfrm>
          <a:prstGeom prst="rect">
            <a:avLst/>
          </a:prstGeom>
          <a:noFill/>
          <a:ln>
            <a:noFill/>
          </a:ln>
        </p:spPr>
      </p:pic>
      <p:sp>
        <p:nvSpPr>
          <p:cNvPr id="353" name="Google Shape;353;p23"/>
          <p:cNvSpPr txBox="1"/>
          <p:nvPr/>
        </p:nvSpPr>
        <p:spPr>
          <a:xfrm>
            <a:off x="1171575" y="3120032"/>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Automated ETL robustly loaded cleaner historical datasets.</a:t>
            </a:r>
            <a:endParaRPr/>
          </a:p>
        </p:txBody>
      </p:sp>
      <p:sp>
        <p:nvSpPr>
          <p:cNvPr id="354" name="Google Shape;354;p23"/>
          <p:cNvSpPr txBox="1"/>
          <p:nvPr/>
        </p:nvSpPr>
        <p:spPr>
          <a:xfrm>
            <a:off x="1171575" y="3448347"/>
            <a:ext cx="4495800" cy="178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lang="en-US" sz="1162">
                <a:solidFill>
                  <a:srgbClr val="475569"/>
                </a:solidFill>
                <a:latin typeface="Inter"/>
                <a:ea typeface="Inter"/>
                <a:cs typeface="Inter"/>
                <a:sym typeface="Inter"/>
              </a:rPr>
              <a:t>SQLite improved data storage and querying.</a:t>
            </a:r>
            <a:endParaRPr sz="1162">
              <a:solidFill>
                <a:srgbClr val="475569"/>
              </a:solidFill>
              <a:latin typeface="Inter"/>
              <a:ea typeface="Inter"/>
              <a:cs typeface="Inter"/>
              <a:sym typeface="Inter"/>
            </a:endParaRPr>
          </a:p>
        </p:txBody>
      </p:sp>
      <p:sp>
        <p:nvSpPr>
          <p:cNvPr id="355" name="Google Shape;355;p23"/>
          <p:cNvSpPr txBox="1"/>
          <p:nvPr/>
        </p:nvSpPr>
        <p:spPr>
          <a:xfrm>
            <a:off x="1171575" y="3776662"/>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NAV returns show persistent long-term compounding growth.</a:t>
            </a:r>
            <a:endParaRPr/>
          </a:p>
        </p:txBody>
      </p:sp>
      <p:sp>
        <p:nvSpPr>
          <p:cNvPr id="356" name="Google Shape;356;p23"/>
          <p:cNvSpPr txBox="1"/>
          <p:nvPr/>
        </p:nvSpPr>
        <p:spPr>
          <a:xfrm>
            <a:off x="1171575" y="4104977"/>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SIP paths remained highly resilient across business cycles.</a:t>
            </a:r>
            <a:endParaRPr/>
          </a:p>
        </p:txBody>
      </p:sp>
      <p:pic>
        <p:nvPicPr>
          <p:cNvPr descr="image.png" id="357" name="Google Shape;357;p23"/>
          <p:cNvPicPr preferRelativeResize="0"/>
          <p:nvPr/>
        </p:nvPicPr>
        <p:blipFill rotWithShape="1">
          <a:blip r:embed="rId9">
            <a:alphaModFix/>
          </a:blip>
          <a:srcRect b="0" l="0" r="0" t="0"/>
          <a:stretch/>
        </p:blipFill>
        <p:spPr>
          <a:xfrm>
            <a:off x="6524625" y="2777132"/>
            <a:ext cx="161925" cy="209550"/>
          </a:xfrm>
          <a:prstGeom prst="rect">
            <a:avLst/>
          </a:prstGeom>
          <a:noFill/>
          <a:ln>
            <a:noFill/>
          </a:ln>
        </p:spPr>
      </p:pic>
      <p:sp>
        <p:nvSpPr>
          <p:cNvPr id="358" name="Google Shape;358;p23"/>
          <p:cNvSpPr txBox="1"/>
          <p:nvPr/>
        </p:nvSpPr>
        <p:spPr>
          <a:xfrm>
            <a:off x="6791325" y="3120032"/>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Continue programmatic retail SIP investment focus.</a:t>
            </a:r>
            <a:endParaRPr/>
          </a:p>
        </p:txBody>
      </p:sp>
      <p:sp>
        <p:nvSpPr>
          <p:cNvPr id="359" name="Google Shape;359;p23"/>
          <p:cNvSpPr txBox="1"/>
          <p:nvPr/>
        </p:nvSpPr>
        <p:spPr>
          <a:xfrm>
            <a:off x="6791325" y="3448347"/>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Prioritize sectoral diversification to minimize drawdown.</a:t>
            </a:r>
            <a:endParaRPr/>
          </a:p>
        </p:txBody>
      </p:sp>
      <p:sp>
        <p:nvSpPr>
          <p:cNvPr id="360" name="Google Shape;360;p23"/>
          <p:cNvSpPr txBox="1"/>
          <p:nvPr/>
        </p:nvSpPr>
        <p:spPr>
          <a:xfrm>
            <a:off x="6791325" y="3776662"/>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Track benchmark outperformance via scorecards regularly.</a:t>
            </a:r>
            <a:endParaRPr/>
          </a:p>
        </p:txBody>
      </p:sp>
      <p:sp>
        <p:nvSpPr>
          <p:cNvPr id="361" name="Google Shape;361;p23"/>
          <p:cNvSpPr txBox="1"/>
          <p:nvPr/>
        </p:nvSpPr>
        <p:spPr>
          <a:xfrm>
            <a:off x="6791325" y="4104977"/>
            <a:ext cx="4495800" cy="214014"/>
          </a:xfrm>
          <a:prstGeom prst="rect">
            <a:avLst/>
          </a:prstGeom>
          <a:noFill/>
          <a:ln>
            <a:noFill/>
          </a:ln>
        </p:spPr>
        <p:txBody>
          <a:bodyPr anchorCtr="0" anchor="t" bIns="0" lIns="0" spcFirstLastPara="1" rIns="0" wrap="square" tIns="0">
            <a:spAutoFit/>
          </a:bodyPr>
          <a:lstStyle/>
          <a:p>
            <a:pPr indent="0" lvl="0" marL="0" marR="0" rtl="0" algn="l">
              <a:lnSpc>
                <a:spcPct val="145008"/>
              </a:lnSpc>
              <a:spcBef>
                <a:spcPts val="0"/>
              </a:spcBef>
              <a:spcAft>
                <a:spcPts val="0"/>
              </a:spcAft>
              <a:buNone/>
            </a:pPr>
            <a:r>
              <a:rPr b="0" i="0" lang="en-US" sz="1162" u="none" cap="none" strike="noStrike">
                <a:solidFill>
                  <a:srgbClr val="475569"/>
                </a:solidFill>
                <a:latin typeface="Inter"/>
                <a:ea typeface="Inter"/>
                <a:cs typeface="Inter"/>
                <a:sym typeface="Inter"/>
              </a:rPr>
              <a:t>Leverage current Power BI dashboards for asset decisions.</a:t>
            </a:r>
            <a:endParaRPr/>
          </a:p>
        </p:txBody>
      </p:sp>
      <p:pic>
        <p:nvPicPr>
          <p:cNvPr descr="image.png" id="362" name="Google Shape;362;p23"/>
          <p:cNvPicPr preferRelativeResize="0"/>
          <p:nvPr/>
        </p:nvPicPr>
        <p:blipFill rotWithShape="1">
          <a:blip r:embed="rId10">
            <a:alphaModFix/>
          </a:blip>
          <a:srcRect b="0" l="0" r="0" t="0"/>
          <a:stretch/>
        </p:blipFill>
        <p:spPr>
          <a:xfrm>
            <a:off x="904875" y="3148607"/>
            <a:ext cx="152400" cy="152400"/>
          </a:xfrm>
          <a:prstGeom prst="rect">
            <a:avLst/>
          </a:prstGeom>
          <a:noFill/>
          <a:ln>
            <a:noFill/>
          </a:ln>
        </p:spPr>
      </p:pic>
      <p:pic>
        <p:nvPicPr>
          <p:cNvPr descr="image.png" id="363" name="Google Shape;363;p23"/>
          <p:cNvPicPr preferRelativeResize="0"/>
          <p:nvPr/>
        </p:nvPicPr>
        <p:blipFill rotWithShape="1">
          <a:blip r:embed="rId10">
            <a:alphaModFix/>
          </a:blip>
          <a:srcRect b="0" l="0" r="0" t="0"/>
          <a:stretch/>
        </p:blipFill>
        <p:spPr>
          <a:xfrm>
            <a:off x="904875" y="3476922"/>
            <a:ext cx="152400" cy="152400"/>
          </a:xfrm>
          <a:prstGeom prst="rect">
            <a:avLst/>
          </a:prstGeom>
          <a:noFill/>
          <a:ln>
            <a:noFill/>
          </a:ln>
        </p:spPr>
      </p:pic>
      <p:pic>
        <p:nvPicPr>
          <p:cNvPr descr="image.png" id="364" name="Google Shape;364;p23"/>
          <p:cNvPicPr preferRelativeResize="0"/>
          <p:nvPr/>
        </p:nvPicPr>
        <p:blipFill rotWithShape="1">
          <a:blip r:embed="rId10">
            <a:alphaModFix/>
          </a:blip>
          <a:srcRect b="0" l="0" r="0" t="0"/>
          <a:stretch/>
        </p:blipFill>
        <p:spPr>
          <a:xfrm>
            <a:off x="904875" y="3805237"/>
            <a:ext cx="152400" cy="152400"/>
          </a:xfrm>
          <a:prstGeom prst="rect">
            <a:avLst/>
          </a:prstGeom>
          <a:noFill/>
          <a:ln>
            <a:noFill/>
          </a:ln>
        </p:spPr>
      </p:pic>
      <p:pic>
        <p:nvPicPr>
          <p:cNvPr descr="image.png" id="365" name="Google Shape;365;p23"/>
          <p:cNvPicPr preferRelativeResize="0"/>
          <p:nvPr/>
        </p:nvPicPr>
        <p:blipFill rotWithShape="1">
          <a:blip r:embed="rId10">
            <a:alphaModFix/>
          </a:blip>
          <a:srcRect b="0" l="0" r="0" t="0"/>
          <a:stretch/>
        </p:blipFill>
        <p:spPr>
          <a:xfrm>
            <a:off x="904875" y="4133552"/>
            <a:ext cx="152400" cy="152400"/>
          </a:xfrm>
          <a:prstGeom prst="rect">
            <a:avLst/>
          </a:prstGeom>
          <a:noFill/>
          <a:ln>
            <a:noFill/>
          </a:ln>
        </p:spPr>
      </p:pic>
      <p:pic>
        <p:nvPicPr>
          <p:cNvPr descr="image.png" id="366" name="Google Shape;366;p23"/>
          <p:cNvPicPr preferRelativeResize="0"/>
          <p:nvPr/>
        </p:nvPicPr>
        <p:blipFill rotWithShape="1">
          <a:blip r:embed="rId11">
            <a:alphaModFix/>
          </a:blip>
          <a:srcRect b="0" l="0" r="0" t="0"/>
          <a:stretch/>
        </p:blipFill>
        <p:spPr>
          <a:xfrm>
            <a:off x="6524625" y="3148607"/>
            <a:ext cx="133350" cy="152400"/>
          </a:xfrm>
          <a:prstGeom prst="rect">
            <a:avLst/>
          </a:prstGeom>
          <a:noFill/>
          <a:ln>
            <a:noFill/>
          </a:ln>
        </p:spPr>
      </p:pic>
      <p:pic>
        <p:nvPicPr>
          <p:cNvPr descr="image.png" id="367" name="Google Shape;367;p23"/>
          <p:cNvPicPr preferRelativeResize="0"/>
          <p:nvPr/>
        </p:nvPicPr>
        <p:blipFill rotWithShape="1">
          <a:blip r:embed="rId11">
            <a:alphaModFix/>
          </a:blip>
          <a:srcRect b="0" l="0" r="0" t="0"/>
          <a:stretch/>
        </p:blipFill>
        <p:spPr>
          <a:xfrm>
            <a:off x="6524625" y="3476922"/>
            <a:ext cx="133350" cy="152400"/>
          </a:xfrm>
          <a:prstGeom prst="rect">
            <a:avLst/>
          </a:prstGeom>
          <a:noFill/>
          <a:ln>
            <a:noFill/>
          </a:ln>
        </p:spPr>
      </p:pic>
      <p:pic>
        <p:nvPicPr>
          <p:cNvPr descr="image.png" id="368" name="Google Shape;368;p23"/>
          <p:cNvPicPr preferRelativeResize="0"/>
          <p:nvPr/>
        </p:nvPicPr>
        <p:blipFill rotWithShape="1">
          <a:blip r:embed="rId11">
            <a:alphaModFix/>
          </a:blip>
          <a:srcRect b="0" l="0" r="0" t="0"/>
          <a:stretch/>
        </p:blipFill>
        <p:spPr>
          <a:xfrm>
            <a:off x="6524625" y="3805237"/>
            <a:ext cx="133350" cy="152400"/>
          </a:xfrm>
          <a:prstGeom prst="rect">
            <a:avLst/>
          </a:prstGeom>
          <a:noFill/>
          <a:ln>
            <a:noFill/>
          </a:ln>
        </p:spPr>
      </p:pic>
      <p:pic>
        <p:nvPicPr>
          <p:cNvPr descr="image.png" id="369" name="Google Shape;369;p23"/>
          <p:cNvPicPr preferRelativeResize="0"/>
          <p:nvPr/>
        </p:nvPicPr>
        <p:blipFill rotWithShape="1">
          <a:blip r:embed="rId11">
            <a:alphaModFix/>
          </a:blip>
          <a:srcRect b="0" l="0" r="0" t="0"/>
          <a:stretch/>
        </p:blipFill>
        <p:spPr>
          <a:xfrm>
            <a:off x="6524625" y="4133552"/>
            <a:ext cx="133350" cy="152400"/>
          </a:xfrm>
          <a:prstGeom prst="rect">
            <a:avLst/>
          </a:prstGeom>
          <a:noFill/>
          <a:ln>
            <a:noFill/>
          </a:ln>
        </p:spPr>
      </p:pic>
      <p:sp>
        <p:nvSpPr>
          <p:cNvPr id="370" name="Google Shape;370;p23"/>
          <p:cNvSpPr txBox="1"/>
          <p:nvPr/>
        </p:nvSpPr>
        <p:spPr>
          <a:xfrm>
            <a:off x="809625" y="476250"/>
            <a:ext cx="11251406" cy="4095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Key Findings &amp; Recommendations</a:t>
            </a:r>
            <a:endParaRPr/>
          </a:p>
        </p:txBody>
      </p:sp>
      <p:sp>
        <p:nvSpPr>
          <p:cNvPr id="371" name="Google Shape;371;p23"/>
          <p:cNvSpPr/>
          <p:nvPr/>
        </p:nvSpPr>
        <p:spPr>
          <a:xfrm>
            <a:off x="666750" y="476250"/>
            <a:ext cx="47625" cy="409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942"/>
        </a:solidFill>
      </p:bgPr>
    </p:bg>
    <p:spTree>
      <p:nvGrpSpPr>
        <p:cNvPr id="375" name="Shape 375"/>
        <p:cNvGrpSpPr/>
        <p:nvPr/>
      </p:nvGrpSpPr>
      <p:grpSpPr>
        <a:xfrm>
          <a:off x="0" y="0"/>
          <a:ext cx="0" cy="0"/>
          <a:chOff x="0" y="0"/>
          <a:chExt cx="0" cy="0"/>
        </a:xfrm>
      </p:grpSpPr>
      <p:pic>
        <p:nvPicPr>
          <p:cNvPr descr="image.png" id="376" name="Google Shape;37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7" name="Google Shape;377;p24"/>
          <p:cNvPicPr preferRelativeResize="0"/>
          <p:nvPr/>
        </p:nvPicPr>
        <p:blipFill rotWithShape="1">
          <a:blip r:embed="rId4">
            <a:alphaModFix/>
          </a:blip>
          <a:srcRect b="0" l="0" r="0" t="0"/>
          <a:stretch/>
        </p:blipFill>
        <p:spPr>
          <a:xfrm>
            <a:off x="10658475" y="6172200"/>
            <a:ext cx="866775" cy="209550"/>
          </a:xfrm>
          <a:prstGeom prst="rect">
            <a:avLst/>
          </a:prstGeom>
          <a:noFill/>
          <a:ln>
            <a:noFill/>
          </a:ln>
        </p:spPr>
      </p:pic>
      <p:pic>
        <p:nvPicPr>
          <p:cNvPr descr="image.png" id="378" name="Google Shape;378;p24"/>
          <p:cNvPicPr preferRelativeResize="0"/>
          <p:nvPr/>
        </p:nvPicPr>
        <p:blipFill rotWithShape="1">
          <a:blip r:embed="rId5">
            <a:alphaModFix/>
          </a:blip>
          <a:srcRect b="0" l="0" r="0" t="0"/>
          <a:stretch/>
        </p:blipFill>
        <p:spPr>
          <a:xfrm>
            <a:off x="666750" y="6019800"/>
            <a:ext cx="10858500" cy="361950"/>
          </a:xfrm>
          <a:prstGeom prst="rect">
            <a:avLst/>
          </a:prstGeom>
          <a:noFill/>
          <a:ln>
            <a:noFill/>
          </a:ln>
        </p:spPr>
      </p:pic>
      <p:sp>
        <p:nvSpPr>
          <p:cNvPr id="379" name="Google Shape;379;p24"/>
          <p:cNvSpPr txBox="1"/>
          <p:nvPr/>
        </p:nvSpPr>
        <p:spPr>
          <a:xfrm>
            <a:off x="2888099" y="2891572"/>
            <a:ext cx="6415800" cy="7389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lang="en-US" sz="4800">
                <a:solidFill>
                  <a:srgbClr val="FFFFFF"/>
                </a:solidFill>
                <a:latin typeface="Plus Jakarta Sans ExtraBold"/>
                <a:ea typeface="Plus Jakarta Sans ExtraBold"/>
                <a:cs typeface="Plus Jakarta Sans ExtraBold"/>
                <a:sym typeface="Plus Jakarta Sans ExtraBold"/>
              </a:rPr>
              <a:t>Thank You </a:t>
            </a:r>
            <a:endParaRPr/>
          </a:p>
        </p:txBody>
      </p:sp>
      <p:sp>
        <p:nvSpPr>
          <p:cNvPr id="380" name="Google Shape;380;p24"/>
          <p:cNvSpPr txBox="1"/>
          <p:nvPr/>
        </p:nvSpPr>
        <p:spPr>
          <a:xfrm>
            <a:off x="3000375" y="3735428"/>
            <a:ext cx="6191400" cy="231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500">
                <a:solidFill>
                  <a:srgbClr val="CBD5E1"/>
                </a:solidFill>
                <a:latin typeface="Inter"/>
                <a:ea typeface="Inter"/>
                <a:cs typeface="Inter"/>
                <a:sym typeface="Inter"/>
              </a:rPr>
              <a:t>Questions &amp; Discussion </a:t>
            </a:r>
            <a:endParaRPr/>
          </a:p>
        </p:txBody>
      </p:sp>
      <p:sp>
        <p:nvSpPr>
          <p:cNvPr id="381" name="Google Shape;381;p24"/>
          <p:cNvSpPr/>
          <p:nvPr/>
        </p:nvSpPr>
        <p:spPr>
          <a:xfrm>
            <a:off x="666750" y="6210300"/>
            <a:ext cx="2657475" cy="133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24"/>
          <p:cNvSpPr txBox="1"/>
          <p:nvPr/>
        </p:nvSpPr>
        <p:spPr>
          <a:xfrm>
            <a:off x="666750" y="6210300"/>
            <a:ext cx="26574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FFFFFF"/>
                </a:solidFill>
                <a:latin typeface="Inter Medium"/>
                <a:ea typeface="Inter Medium"/>
                <a:cs typeface="Inter Medium"/>
                <a:sym typeface="Inter Medium"/>
              </a:rPr>
              <a:t>FINAL CAPSTONE PORTFOLIO PRESENTATION</a:t>
            </a:r>
            <a:endParaRPr/>
          </a:p>
        </p:txBody>
      </p:sp>
      <p:sp>
        <p:nvSpPr>
          <p:cNvPr id="383" name="Google Shape;383;p24"/>
          <p:cNvSpPr txBox="1"/>
          <p:nvPr/>
        </p:nvSpPr>
        <p:spPr>
          <a:xfrm>
            <a:off x="6572250" y="6200775"/>
            <a:ext cx="838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FFFFFF"/>
                </a:solidFill>
                <a:latin typeface="Inter"/>
                <a:ea typeface="Inter"/>
                <a:cs typeface="Inter"/>
                <a:sym typeface="Inter"/>
              </a:rPr>
              <a:t>BLUESTOCK</a:t>
            </a:r>
            <a:r>
              <a:rPr b="1" i="0" lang="en-US" sz="975" u="none" cap="none" strike="noStrike">
                <a:solidFill>
                  <a:srgbClr val="3B82F6"/>
                </a:solidFill>
                <a:latin typeface="Inter"/>
                <a:ea typeface="Inter"/>
                <a:cs typeface="Inter"/>
                <a:sym typeface="Inter"/>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